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05840"/>
            <a:ext cx="5303520" cy="5303520"/>
          </a:xfrm>
          <a:prstGeom prst="arc">
            <a:avLst/>
          </a:prstGeom>
          <a:noFill/>
          <a:ln w="25400">
            <a:solidFill>
              <a:srgbClr val="1C8CC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-182880"/>
            <a:ext cx="4206240" cy="4206240"/>
          </a:xfrm>
          <a:prstGeom prst="arc">
            <a:avLst/>
          </a:prstGeom>
          <a:noFill/>
          <a:ln w="15240">
            <a:solidFill>
              <a:srgbClr val="E7B65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758952"/>
            <a:ext cx="2377440" cy="310896"/>
          </a:xfrm>
          <a:prstGeom prst="roundRect">
            <a:avLst>
              <a:gd name="adj" fmla="val 23529"/>
            </a:avLst>
          </a:prstGeom>
          <a:solidFill>
            <a:srgbClr val="0D5C91"/>
          </a:solidFill>
          <a:ln w="12700">
            <a:solidFill>
              <a:srgbClr val="0D5C9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76809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基层巡防知识快速查询平台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巡防百科网站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项目汇报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3035808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8D9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以知识沉淀支撑一线巡防实战，以便捷查询提升日常工作效率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4069080"/>
            <a:ext cx="5349240" cy="1143000"/>
          </a:xfrm>
          <a:prstGeom prst="roundRect">
            <a:avLst>
              <a:gd name="adj" fmla="val 6400"/>
            </a:avLst>
          </a:prstGeom>
          <a:solidFill>
            <a:srgbClr val="0D3B63"/>
          </a:solidFill>
          <a:ln w="12700">
            <a:solidFill>
              <a:srgbClr val="0D3B6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4279392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已形成六大业务模块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支持分类浏览、站内搜索、图文与视频辅助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591616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4CA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汇报人：________    汇报时间：________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7B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8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建设背景：基层知识获取的现实需求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335024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将分散资料转化为一线人员“找得到、看得懂、用得上”的知识服务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40156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057400"/>
            <a:ext cx="73152" cy="2331720"/>
          </a:xfrm>
          <a:prstGeom prst="rect">
            <a:avLst/>
          </a:prstGeom>
          <a:solidFill>
            <a:srgbClr val="0D5C91"/>
          </a:solidFill>
          <a:ln w="12700">
            <a:solidFill>
              <a:srgbClr val="0D5C9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286000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8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资料分散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715768"/>
            <a:ext cx="2944368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规章、流程、培训材料和经验做法分布在不同载体，集中查找不便。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6112" y="3611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7E7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4462272" y="2057400"/>
            <a:ext cx="340156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62272" y="2057400"/>
            <a:ext cx="73152" cy="2331720"/>
          </a:xfrm>
          <a:prstGeom prst="rect">
            <a:avLst/>
          </a:prstGeom>
          <a:solidFill>
            <a:srgbClr val="1C8CCF"/>
          </a:solidFill>
          <a:ln w="12700">
            <a:solidFill>
              <a:srgbClr val="1C8CC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2286000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8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查询耗时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18304" y="2715768"/>
            <a:ext cx="2944368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面对具体任务时，需要在有限时间内定位对应的操作要点与规范依据。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18304" y="3611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7E7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8284464" y="2057400"/>
            <a:ext cx="340156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84464" y="2057400"/>
            <a:ext cx="73152" cy="2331720"/>
          </a:xfrm>
          <a:prstGeom prst="rect">
            <a:avLst/>
          </a:prstGeom>
          <a:solidFill>
            <a:srgbClr val="25936A"/>
          </a:solidFill>
          <a:ln w="12700">
            <a:solidFill>
              <a:srgbClr val="25936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0496" y="2286000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8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经验难沉淀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40496" y="2715768"/>
            <a:ext cx="2944368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图文、示意和案例内容缺少统一入口，难以持续积累与更新。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540496" y="3611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7E7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640080" y="4919472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E3F0F8"/>
          </a:solidFill>
          <a:ln w="12700">
            <a:solidFill>
              <a:srgbClr val="E3F0F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16636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建设目标：把常用巡防知识沉淀为可持续更新、可快速查询、可随时访问的轻量化平台。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8890">
            <a:solidFill>
              <a:srgbClr val="D6E2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5013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巡防百科网站项目汇报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5C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7B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8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建设思路：从知识库到巡防百科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335024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通过统一整理、结构化呈现和持续维护，让内容可以不断生长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2240280"/>
            <a:ext cx="2267712" cy="1481328"/>
          </a:xfrm>
          <a:prstGeom prst="roundRect">
            <a:avLst>
              <a:gd name="adj" fmla="val 4938"/>
            </a:avLst>
          </a:prstGeom>
          <a:solidFill>
            <a:srgbClr val="EAF4FA"/>
          </a:solidFill>
          <a:ln w="12700">
            <a:solidFill>
              <a:srgbClr val="D6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450592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D5C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9536" y="27614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8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知识沉淀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9536" y="3154680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Obsidian 知识库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收集与归档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35808" y="2770632"/>
            <a:ext cx="292608" cy="365760"/>
          </a:xfrm>
          <a:prstGeom prst="chevron">
            <a:avLst/>
          </a:prstGeom>
          <a:solidFill>
            <a:srgbClr val="E7B65A"/>
          </a:solidFill>
          <a:ln w="12700">
            <a:solidFill>
              <a:srgbClr val="E7B6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38728" y="2240280"/>
            <a:ext cx="2267712" cy="1481328"/>
          </a:xfrm>
          <a:prstGeom prst="roundRect">
            <a:avLst>
              <a:gd name="adj" fmla="val 4938"/>
            </a:avLst>
          </a:prstGeom>
          <a:solidFill>
            <a:srgbClr val="EAF4FA"/>
          </a:solidFill>
          <a:ln w="12700">
            <a:solidFill>
              <a:srgbClr val="D6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9896" y="2450592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D5C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39896" y="27614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8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内容整理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39896" y="3154680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按主题分类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提炼图文要点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16168" y="2770632"/>
            <a:ext cx="292608" cy="365760"/>
          </a:xfrm>
          <a:prstGeom prst="chevron">
            <a:avLst/>
          </a:prstGeom>
          <a:solidFill>
            <a:srgbClr val="E7B65A"/>
          </a:solidFill>
          <a:ln w="12700">
            <a:solidFill>
              <a:srgbClr val="E7B6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19088" y="2240280"/>
            <a:ext cx="2267712" cy="1481328"/>
          </a:xfrm>
          <a:prstGeom prst="roundRect">
            <a:avLst>
              <a:gd name="adj" fmla="val 4938"/>
            </a:avLst>
          </a:prstGeom>
          <a:solidFill>
            <a:srgbClr val="082B4C"/>
          </a:solidFill>
          <a:ln w="12700">
            <a:solidFill>
              <a:srgbClr val="082B4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0256" y="2450592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7B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20256" y="27614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网站发布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20256" y="3154680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7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网页模块化呈现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E7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支持搜索浏览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96528" y="2770632"/>
            <a:ext cx="292608" cy="365760"/>
          </a:xfrm>
          <a:prstGeom prst="chevron">
            <a:avLst/>
          </a:prstGeom>
          <a:solidFill>
            <a:srgbClr val="E7B65A"/>
          </a:solidFill>
          <a:ln w="12700">
            <a:solidFill>
              <a:srgbClr val="E7B6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99448" y="2240280"/>
            <a:ext cx="2267712" cy="1481328"/>
          </a:xfrm>
          <a:prstGeom prst="roundRect">
            <a:avLst>
              <a:gd name="adj" fmla="val 4938"/>
            </a:avLst>
          </a:prstGeom>
          <a:solidFill>
            <a:srgbClr val="EAF4FA"/>
          </a:solidFill>
          <a:ln w="12700">
            <a:solidFill>
              <a:srgbClr val="D6E2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0616" y="2450592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D5C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500616" y="27614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8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持续更新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500616" y="3154680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新增资料及时补充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迭代完善内容</a:t>
            </a:r>
            <a:endParaRPr lang="en-US" sz="1050" dirty="0"/>
          </a:p>
        </p:txBody>
      </p:sp>
      <p:pic>
        <p:nvPicPr>
          <p:cNvPr id="24" name="Image 0" descr="F:\frank第二大脑\xunfang-baike\.worktrees\demo-materials\deliverables\assets\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37560" y="4279392"/>
            <a:ext cx="5532120" cy="1572768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3337560" y="4279392"/>
            <a:ext cx="5532120" cy="1572768"/>
          </a:xfrm>
          <a:prstGeom prst="roundRect">
            <a:avLst>
              <a:gd name="adj" fmla="val 4651"/>
            </a:avLst>
          </a:prstGeom>
          <a:solidFill>
            <a:srgbClr val="FFFFFF">
              <a:alpha val="0"/>
            </a:srgbClr>
          </a:solidFill>
          <a:ln w="12700">
            <a:solidFill>
              <a:srgbClr val="D6E2E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41248" y="493776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D5C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知识库不是终点，而是网站内容持续更新的基础。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8890">
            <a:solidFill>
              <a:srgbClr val="D6E2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8640" y="65013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巡防百科网站项目汇报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5C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7B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8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网站总体架构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335024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围绕基层巡防常见任务，构建六类可直接进入的内容模块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993392"/>
            <a:ext cx="3154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993392"/>
            <a:ext cx="91440" cy="868680"/>
          </a:xfrm>
          <a:prstGeom prst="rect">
            <a:avLst/>
          </a:prstGeom>
          <a:solidFill>
            <a:srgbClr val="0D5C91"/>
          </a:solidFill>
          <a:ln w="12700">
            <a:solidFill>
              <a:srgbClr val="0D5C9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24028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D5C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99032" y="217627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装备介绍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99032" y="251460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按主题集中呈现，便于进入与浏览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297680" y="1993392"/>
            <a:ext cx="3154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993392"/>
            <a:ext cx="91440" cy="868680"/>
          </a:xfrm>
          <a:prstGeom prst="rect">
            <a:avLst/>
          </a:prstGeom>
          <a:solidFill>
            <a:srgbClr val="25936A"/>
          </a:solidFill>
          <a:ln w="12700">
            <a:solidFill>
              <a:srgbClr val="25936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24028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59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10912" y="217627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巡防勤务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10912" y="251460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按主题集中呈现，便于进入与浏览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7909560" y="1993392"/>
            <a:ext cx="3154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9560" y="1993392"/>
            <a:ext cx="91440" cy="868680"/>
          </a:xfrm>
          <a:prstGeom prst="rect">
            <a:avLst/>
          </a:prstGeom>
          <a:solidFill>
            <a:srgbClr val="6D72C3"/>
          </a:solidFill>
          <a:ln w="12700">
            <a:solidFill>
              <a:srgbClr val="6D72C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224028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D72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22792" y="217627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警务训练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22792" y="251460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按主题集中呈现，便于进入与浏览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685800" y="3227832"/>
            <a:ext cx="3154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227832"/>
            <a:ext cx="91440" cy="868680"/>
          </a:xfrm>
          <a:prstGeom prst="rect">
            <a:avLst/>
          </a:prstGeom>
          <a:solidFill>
            <a:srgbClr val="B65454"/>
          </a:solidFill>
          <a:ln w="12700">
            <a:solidFill>
              <a:srgbClr val="B6545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47472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B65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99032" y="341071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警情处置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99032" y="37490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按主题集中呈现，便于进入与浏览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4297680" y="3227832"/>
            <a:ext cx="3154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97680" y="3227832"/>
            <a:ext cx="91440" cy="868680"/>
          </a:xfrm>
          <a:prstGeom prst="rect">
            <a:avLst/>
          </a:prstGeom>
          <a:solidFill>
            <a:srgbClr val="8D6B3E"/>
          </a:solidFill>
          <a:ln w="12700">
            <a:solidFill>
              <a:srgbClr val="8D6B3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347472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D6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10912" y="341071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法条规范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10912" y="37490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按主题集中呈现，便于进入与浏览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7909560" y="3227832"/>
            <a:ext cx="3154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09560" y="3227832"/>
            <a:ext cx="91440" cy="868680"/>
          </a:xfrm>
          <a:prstGeom prst="rect">
            <a:avLst/>
          </a:prstGeom>
          <a:solidFill>
            <a:srgbClr val="1F9E9B"/>
          </a:solidFill>
          <a:ln w="12700">
            <a:solidFill>
              <a:srgbClr val="1F9E9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83880" y="347472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9E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622792" y="341071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走访送教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622792" y="37490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按主题集中呈现，便于进入与浏览</a:t>
            </a:r>
            <a:endParaRPr lang="en-US" sz="880" dirty="0"/>
          </a:p>
        </p:txBody>
      </p:sp>
      <p:pic>
        <p:nvPicPr>
          <p:cNvPr id="35" name="Image 0" descr="F:\frank第二大脑\xunfang-baike\.worktrees\demo-materials\deliverables\assets\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91272" y="4526280"/>
            <a:ext cx="2926080" cy="164592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7891272" y="4526280"/>
            <a:ext cx="2926080" cy="1645920"/>
          </a:xfrm>
          <a:prstGeom prst="roundRect">
            <a:avLst>
              <a:gd name="adj" fmla="val 4444"/>
            </a:avLst>
          </a:prstGeom>
          <a:solidFill>
            <a:srgbClr val="FFFFFF">
              <a:alpha val="0"/>
            </a:srgbClr>
          </a:solidFill>
          <a:ln w="12700">
            <a:solidFill>
              <a:srgbClr val="D6E2E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8890">
            <a:solidFill>
              <a:srgbClr val="D6E2E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48640" y="65013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巡防百科网站项目汇报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5C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7B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8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核心功能：快速定位所需知识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335024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以“分类入口 + 站内搜索 + 图文视频”的方式降低信息获取门槛</a:t>
            </a:r>
            <a:endParaRPr lang="en-US" sz="1100" dirty="0"/>
          </a:p>
        </p:txBody>
      </p:sp>
      <p:pic>
        <p:nvPicPr>
          <p:cNvPr id="5" name="Image 0" descr="F:\frank第二大脑\xunfang-baike\.worktrees\demo-materials\deliverables\assets\sear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5080" y="1755648"/>
            <a:ext cx="516636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55080" y="1755648"/>
            <a:ext cx="5166360" cy="3200400"/>
          </a:xfrm>
          <a:prstGeom prst="roundRect">
            <a:avLst>
              <a:gd name="adj" fmla="val 2286"/>
            </a:avLst>
          </a:prstGeom>
          <a:solidFill>
            <a:srgbClr val="FFFFFF">
              <a:alpha val="0"/>
            </a:srgbClr>
          </a:solidFill>
          <a:ln w="12700">
            <a:solidFill>
              <a:srgbClr val="D6E2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82880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1828800"/>
            <a:ext cx="73152" cy="960120"/>
          </a:xfrm>
          <a:prstGeom prst="rect">
            <a:avLst/>
          </a:prstGeom>
          <a:solidFill>
            <a:srgbClr val="0D5C91"/>
          </a:solidFill>
          <a:ln w="12700">
            <a:solidFill>
              <a:srgbClr val="0D5C91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41832" y="2057400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8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分类浏览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41832" y="2487168"/>
            <a:ext cx="20574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从六大模块进入，适合明确知道业务方向时快速查看。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29000" y="182880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29000" y="1828800"/>
            <a:ext cx="73152" cy="960120"/>
          </a:xfrm>
          <a:prstGeom prst="rect">
            <a:avLst/>
          </a:prstGeom>
          <a:solidFill>
            <a:srgbClr val="25936A"/>
          </a:solidFill>
          <a:ln w="12700">
            <a:solidFill>
              <a:srgbClr val="25936A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85032" y="2057400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8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站内搜索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685032" y="2487168"/>
            <a:ext cx="20574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输入关键词即可在已整理内容中定位相关页面。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85800" y="3127248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3127248"/>
            <a:ext cx="73152" cy="960120"/>
          </a:xfrm>
          <a:prstGeom prst="rect">
            <a:avLst/>
          </a:prstGeom>
          <a:solidFill>
            <a:srgbClr val="6D72C3"/>
          </a:solidFill>
          <a:ln w="12700">
            <a:solidFill>
              <a:srgbClr val="6D72C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41832" y="3355848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8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图文结合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941832" y="3785616"/>
            <a:ext cx="20574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用步骤、图片与要点呈现信息，降低理解成本。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429000" y="3127248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429000" y="3127248"/>
            <a:ext cx="73152" cy="960120"/>
          </a:xfrm>
          <a:prstGeom prst="rect">
            <a:avLst/>
          </a:prstGeom>
          <a:solidFill>
            <a:srgbClr val="E7B65A"/>
          </a:solidFill>
          <a:ln w="12700">
            <a:solidFill>
              <a:srgbClr val="E7B65A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85032" y="3355848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8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视频辅助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3685032" y="3785616"/>
            <a:ext cx="20574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对动作和流程类内容，提供更直观的学习参考。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85800" y="4736592"/>
            <a:ext cx="5257800" cy="676656"/>
          </a:xfrm>
          <a:prstGeom prst="roundRect">
            <a:avLst>
              <a:gd name="adj" fmla="val 10811"/>
            </a:avLst>
          </a:prstGeom>
          <a:solidFill>
            <a:srgbClr val="082B4C"/>
          </a:solidFill>
          <a:ln w="12700">
            <a:solidFill>
              <a:srgbClr val="082B4C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32688" y="4937760"/>
            <a:ext cx="4773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让常用知识从“资料里”走到“现场需要时”。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8890">
            <a:solidFill>
              <a:srgbClr val="D6E2E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8640" y="65013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巡防百科网站项目汇报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5C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7B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8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典型场景：一次快速查询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335024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当面对具体任务时，通过三步完成从问题到要点的快速定位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847088"/>
            <a:ext cx="3401568" cy="347472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048256"/>
            <a:ext cx="777240" cy="310896"/>
          </a:xfrm>
          <a:prstGeom prst="roundRect">
            <a:avLst>
              <a:gd name="adj" fmla="val 23529"/>
            </a:avLst>
          </a:prstGeom>
          <a:solidFill>
            <a:srgbClr val="0D5C91"/>
          </a:solidFill>
          <a:ln w="12700">
            <a:solidFill>
              <a:srgbClr val="0D5C9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05740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</a:t>
            </a:r>
            <a:endParaRPr lang="en-US" sz="950" dirty="0"/>
          </a:p>
        </p:txBody>
      </p:sp>
      <p:pic>
        <p:nvPicPr>
          <p:cNvPr id="8" name="Image 0" descr="F:\frank第二大脑\xunfang-baike\.worktrees\demo-materials\deliverables\assets\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" y="2523744"/>
            <a:ext cx="2962656" cy="15727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86384" y="2523744"/>
            <a:ext cx="2962656" cy="1572768"/>
          </a:xfrm>
          <a:prstGeom prst="roundRect">
            <a:avLst>
              <a:gd name="adj" fmla="val 4651"/>
            </a:avLst>
          </a:prstGeom>
          <a:solidFill>
            <a:srgbClr val="FFFFFF">
              <a:alpha val="0"/>
            </a:srgbClr>
          </a:solidFill>
          <a:ln w="12700">
            <a:solidFill>
              <a:srgbClr val="D6E2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437083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8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进入网站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95528" y="4727448"/>
            <a:ext cx="2871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打开首页，选择对应业务模块。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059936" y="3337560"/>
            <a:ext cx="228600" cy="347472"/>
          </a:xfrm>
          <a:prstGeom prst="chevron">
            <a:avLst/>
          </a:prstGeom>
          <a:solidFill>
            <a:srgbClr val="E7B65A"/>
          </a:solidFill>
          <a:ln w="12700">
            <a:solidFill>
              <a:srgbClr val="E7B65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53128" y="1847088"/>
            <a:ext cx="3401568" cy="347472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72584" y="2048256"/>
            <a:ext cx="777240" cy="310896"/>
          </a:xfrm>
          <a:prstGeom prst="roundRect">
            <a:avLst>
              <a:gd name="adj" fmla="val 23529"/>
            </a:avLst>
          </a:prstGeom>
          <a:solidFill>
            <a:srgbClr val="25936A"/>
          </a:solidFill>
          <a:ln w="12700">
            <a:solidFill>
              <a:srgbClr val="25936A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72584" y="205740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</a:t>
            </a:r>
            <a:endParaRPr lang="en-US" sz="950" dirty="0"/>
          </a:p>
        </p:txBody>
      </p:sp>
      <p:pic>
        <p:nvPicPr>
          <p:cNvPr id="16" name="Image 1" descr="F:\frank第二大脑\xunfang-baike\.worktrees\demo-materials\deliverables\assets\search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72584" y="2523744"/>
            <a:ext cx="2962656" cy="157276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672584" y="2523744"/>
            <a:ext cx="2962656" cy="1572768"/>
          </a:xfrm>
          <a:prstGeom prst="roundRect">
            <a:avLst>
              <a:gd name="adj" fmla="val 4651"/>
            </a:avLst>
          </a:prstGeom>
          <a:solidFill>
            <a:srgbClr val="FFFFFF">
              <a:alpha val="0"/>
            </a:srgbClr>
          </a:solidFill>
          <a:ln w="12700">
            <a:solidFill>
              <a:srgbClr val="D6E2E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81728" y="437083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8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搜索或选择模块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681728" y="4727448"/>
            <a:ext cx="2871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通过关键词或分类页定位主题内容。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7946136" y="3337560"/>
            <a:ext cx="228600" cy="347472"/>
          </a:xfrm>
          <a:prstGeom prst="chevron">
            <a:avLst/>
          </a:prstGeom>
          <a:solidFill>
            <a:srgbClr val="E7B65A"/>
          </a:solidFill>
          <a:ln w="12700">
            <a:solidFill>
              <a:srgbClr val="E7B65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339328" y="1847088"/>
            <a:ext cx="3401568" cy="347472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558784" y="2048256"/>
            <a:ext cx="777240" cy="310896"/>
          </a:xfrm>
          <a:prstGeom prst="roundRect">
            <a:avLst>
              <a:gd name="adj" fmla="val 23529"/>
            </a:avLst>
          </a:prstGeom>
          <a:solidFill>
            <a:srgbClr val="0D5C91"/>
          </a:solidFill>
          <a:ln w="12700">
            <a:solidFill>
              <a:srgbClr val="0D5C91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558784" y="205740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</a:t>
            </a:r>
            <a:endParaRPr lang="en-US" sz="950" dirty="0"/>
          </a:p>
        </p:txBody>
      </p:sp>
      <p:pic>
        <p:nvPicPr>
          <p:cNvPr id="24" name="Image 2" descr="F:\frank第二大脑\xunfang-baike\.worktrees\demo-materials\deliverables\assets\detail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558784" y="2523744"/>
            <a:ext cx="2962656" cy="1572768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8558784" y="2523744"/>
            <a:ext cx="2962656" cy="1572768"/>
          </a:xfrm>
          <a:prstGeom prst="roundRect">
            <a:avLst>
              <a:gd name="adj" fmla="val 4651"/>
            </a:avLst>
          </a:prstGeom>
          <a:solidFill>
            <a:srgbClr val="FFFFFF">
              <a:alpha val="0"/>
            </a:srgbClr>
          </a:solidFill>
          <a:ln w="12700">
            <a:solidFill>
              <a:srgbClr val="D6E2EA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567928" y="437083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8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查看操作要点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8567928" y="4727448"/>
            <a:ext cx="2871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阅读图文说明、示意与视频辅助内容。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8890">
            <a:solidFill>
              <a:srgbClr val="D6E2E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48640" y="65013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巡防百科网站项目汇报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5C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2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9436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E7B65A"/>
          </a:solidFill>
          <a:ln w="12700">
            <a:solidFill>
              <a:srgbClr val="E7B65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0350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让知识真正可用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75564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3E2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现场打开网站，展示模块浏览与站内搜索；以真实页面证明项目已具备使用基础。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3232" y="2487168"/>
            <a:ext cx="5074920" cy="621792"/>
          </a:xfrm>
          <a:prstGeom prst="roundRect">
            <a:avLst>
              <a:gd name="adj" fmla="val 11765"/>
            </a:avLst>
          </a:prstGeom>
          <a:solidFill>
            <a:srgbClr val="0D3B63"/>
          </a:solidFill>
          <a:ln w="12700">
            <a:solidFill>
              <a:srgbClr val="0D3B6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61518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7B65A"/>
          </a:solidFill>
          <a:ln w="12700">
            <a:solidFill>
              <a:srgbClr val="E7B65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6334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99616" y="261518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访问网站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263347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9DC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 www.xunfangbk.cn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13232" y="3337560"/>
            <a:ext cx="5074920" cy="621792"/>
          </a:xfrm>
          <a:prstGeom prst="roundRect">
            <a:avLst>
              <a:gd name="adj" fmla="val 11765"/>
            </a:avLst>
          </a:prstGeom>
          <a:solidFill>
            <a:srgbClr val="0D3B63"/>
          </a:solidFill>
          <a:ln w="12700">
            <a:solidFill>
              <a:srgbClr val="0D3B6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346557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7B65A"/>
          </a:solidFill>
          <a:ln w="12700">
            <a:solidFill>
              <a:srgbClr val="E7B65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48386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99616" y="346557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进入模块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348386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9DC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选择“警情处置”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3232" y="4187952"/>
            <a:ext cx="5074920" cy="621792"/>
          </a:xfrm>
          <a:prstGeom prst="roundRect">
            <a:avLst>
              <a:gd name="adj" fmla="val 11765"/>
            </a:avLst>
          </a:prstGeom>
          <a:solidFill>
            <a:srgbClr val="0D3B63"/>
          </a:solidFill>
          <a:ln w="12700">
            <a:solidFill>
              <a:srgbClr val="0D3B6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43159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7B65A"/>
          </a:solidFill>
          <a:ln w="12700">
            <a:solidFill>
              <a:srgbClr val="E7B65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33425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99616" y="431596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站内搜索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433425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9DC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输入关键词并查看详情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3232" y="5230368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173F62"/>
          </a:solidFill>
          <a:ln w="12700">
            <a:solidFill>
              <a:srgbClr val="173F6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42239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7D9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如网络或操作异常：立即播放本地 3 分钟使用演示视频。</a:t>
            </a:r>
            <a:endParaRPr lang="en-US" sz="1050" dirty="0"/>
          </a:p>
        </p:txBody>
      </p:sp>
      <p:pic>
        <p:nvPicPr>
          <p:cNvPr id="23" name="Image 0" descr="F:\frank第二大脑\xunfang-baike\.worktrees\demo-materials\deliverables\assets\module-jingq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46520" y="1005840"/>
            <a:ext cx="4983480" cy="443484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6446520" y="1005840"/>
            <a:ext cx="4983480" cy="4434840"/>
          </a:xfrm>
          <a:prstGeom prst="roundRect">
            <a:avLst>
              <a:gd name="adj" fmla="val 1649"/>
            </a:avLst>
          </a:prstGeom>
          <a:solidFill>
            <a:srgbClr val="FFFFFF">
              <a:alpha val="0"/>
            </a:srgbClr>
          </a:solidFill>
          <a:ln w="12700">
            <a:solidFill>
              <a:srgbClr val="7AA1B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47104" y="580644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3E2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演示重点：看得到、找得快、用得上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7B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8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阶段成果与推广价值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335024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以可访问的网站形式，把知识沉淀转化为可被基层人员直接使用的服务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920240"/>
            <a:ext cx="5047488" cy="1115568"/>
          </a:xfrm>
          <a:prstGeom prst="roundRect">
            <a:avLst>
              <a:gd name="adj" fmla="val 6557"/>
            </a:avLst>
          </a:prstGeom>
          <a:solidFill>
            <a:srgbClr val="F6F9FC"/>
          </a:solidFill>
          <a:ln w="12700">
            <a:solidFill>
              <a:srgbClr val="D6E2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67128"/>
            <a:ext cx="484632" cy="484632"/>
          </a:xfrm>
          <a:prstGeom prst="roundRect">
            <a:avLst>
              <a:gd name="adj" fmla="val 15094"/>
            </a:avLst>
          </a:prstGeom>
          <a:solidFill>
            <a:srgbClr val="0D5C91"/>
          </a:solidFill>
          <a:ln w="12700">
            <a:solidFill>
              <a:srgbClr val="0D5C9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86000"/>
            <a:ext cx="484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72768" y="21214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8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已形成网站入口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72768" y="2523744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统一网址访问，支持电脑与手机浏览。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90488" y="1920240"/>
            <a:ext cx="5047488" cy="1115568"/>
          </a:xfrm>
          <a:prstGeom prst="roundRect">
            <a:avLst>
              <a:gd name="adj" fmla="val 6557"/>
            </a:avLst>
          </a:prstGeom>
          <a:solidFill>
            <a:srgbClr val="F6F9FC"/>
          </a:solidFill>
          <a:ln w="12700">
            <a:solidFill>
              <a:srgbClr val="D6E2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2167128"/>
            <a:ext cx="484632" cy="484632"/>
          </a:xfrm>
          <a:prstGeom prst="roundRect">
            <a:avLst>
              <a:gd name="adj" fmla="val 15094"/>
            </a:avLst>
          </a:prstGeom>
          <a:solidFill>
            <a:srgbClr val="25936A"/>
          </a:solidFill>
          <a:ln w="12700">
            <a:solidFill>
              <a:srgbClr val="25936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286000"/>
            <a:ext cx="484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04888" y="21214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8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已搭建内容框架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04888" y="2523744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围绕六类巡防主题进行模块化组织。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" y="3401568"/>
            <a:ext cx="5047488" cy="1115568"/>
          </a:xfrm>
          <a:prstGeom prst="roundRect">
            <a:avLst>
              <a:gd name="adj" fmla="val 6557"/>
            </a:avLst>
          </a:prstGeom>
          <a:solidFill>
            <a:srgbClr val="F6F9FC"/>
          </a:solidFill>
          <a:ln w="12700">
            <a:solidFill>
              <a:srgbClr val="D6E2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648456"/>
            <a:ext cx="484632" cy="484632"/>
          </a:xfrm>
          <a:prstGeom prst="roundRect">
            <a:avLst>
              <a:gd name="adj" fmla="val 15094"/>
            </a:avLst>
          </a:prstGeom>
          <a:solidFill>
            <a:srgbClr val="6D72C3"/>
          </a:solidFill>
          <a:ln w="12700">
            <a:solidFill>
              <a:srgbClr val="6D72C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767328"/>
            <a:ext cx="484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72768" y="360273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8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具备持续更新基础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72768" y="400507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知识库整理与网站发布形成可迭代链路。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90488" y="3401568"/>
            <a:ext cx="5047488" cy="1115568"/>
          </a:xfrm>
          <a:prstGeom prst="roundRect">
            <a:avLst>
              <a:gd name="adj" fmla="val 6557"/>
            </a:avLst>
          </a:prstGeom>
          <a:solidFill>
            <a:srgbClr val="F6F9FC"/>
          </a:solidFill>
          <a:ln w="12700">
            <a:solidFill>
              <a:srgbClr val="D6E2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3648456"/>
            <a:ext cx="484632" cy="484632"/>
          </a:xfrm>
          <a:prstGeom prst="roundRect">
            <a:avLst>
              <a:gd name="adj" fmla="val 15094"/>
            </a:avLst>
          </a:prstGeom>
          <a:solidFill>
            <a:srgbClr val="E7B65A"/>
          </a:solidFill>
          <a:ln w="12700">
            <a:solidFill>
              <a:srgbClr val="E7B65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767328"/>
            <a:ext cx="484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04888" y="360273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8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支持推广与扩展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104888" y="400507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可在内容完善后逐步推进更广范围使用。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8368" y="5148072"/>
            <a:ext cx="10634472" cy="548640"/>
          </a:xfrm>
          <a:prstGeom prst="roundRect">
            <a:avLst>
              <a:gd name="adj" fmla="val 13333"/>
            </a:avLst>
          </a:prstGeom>
          <a:solidFill>
            <a:srgbClr val="EAF4FA"/>
          </a:solidFill>
          <a:ln w="12700">
            <a:solidFill>
              <a:srgbClr val="EAF4F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340096"/>
            <a:ext cx="10104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5C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推广价值：将“个人整理的知识”逐步转化为“可共享、可查询、可持续维护的工作资源”。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8890">
            <a:solidFill>
              <a:srgbClr val="D6E2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5013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巡防百科网站项目汇报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5C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7B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8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下一步计划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335024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在现有网站基础上持续完善内容、优化体验，并逐步拓展应用场景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87552" y="2286000"/>
            <a:ext cx="2514600" cy="0"/>
          </a:xfrm>
          <a:prstGeom prst="line">
            <a:avLst/>
          </a:prstGeom>
          <a:noFill/>
          <a:ln w="17780">
            <a:solidFill>
              <a:srgbClr val="D6E2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2024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0D5C91"/>
          </a:solidFill>
          <a:ln w="12700">
            <a:solidFill>
              <a:srgbClr val="0D5C9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3055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2926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8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内容完善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336499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持续补充常用流程、图文要点和案例资料。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3840480" y="2286000"/>
            <a:ext cx="2514600" cy="0"/>
          </a:xfrm>
          <a:prstGeom prst="line">
            <a:avLst/>
          </a:prstGeom>
          <a:noFill/>
          <a:ln w="17780">
            <a:solidFill>
              <a:srgbClr val="D6E2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11296" y="192024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0D5C91"/>
          </a:solidFill>
          <a:ln w="12700">
            <a:solidFill>
              <a:srgbClr val="0D5C9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11296" y="213055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11296" y="2926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8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访问管理优化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11296" y="336499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完善展示与访问方式，提升使用稳定性。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693408" y="2286000"/>
            <a:ext cx="2514600" cy="0"/>
          </a:xfrm>
          <a:prstGeom prst="line">
            <a:avLst/>
          </a:prstGeom>
          <a:noFill/>
          <a:ln w="17780">
            <a:solidFill>
              <a:srgbClr val="D6E2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64224" y="192024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0D5C91"/>
          </a:solidFill>
          <a:ln w="12700">
            <a:solidFill>
              <a:srgbClr val="0D5C9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213055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64224" y="2926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8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微信小程序迁移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64224" y="336499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将成熟内容逐步适配至移动端使用场景。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9546336" y="2286000"/>
            <a:ext cx="0" cy="0"/>
          </a:xfrm>
          <a:prstGeom prst="line">
            <a:avLst/>
          </a:prstGeom>
          <a:noFill/>
          <a:ln w="17780">
            <a:solidFill>
              <a:srgbClr val="D6E2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17152" y="192024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E7B65A"/>
          </a:solidFill>
          <a:ln w="12700">
            <a:solidFill>
              <a:srgbClr val="E7B65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17152" y="213055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17152" y="2926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8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推广应用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17152" y="336499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结合实际需求试用、反馈与持续迭代。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658368" y="5074920"/>
            <a:ext cx="10698480" cy="658368"/>
          </a:xfrm>
          <a:prstGeom prst="roundRect">
            <a:avLst>
              <a:gd name="adj" fmla="val 11111"/>
            </a:avLst>
          </a:prstGeom>
          <a:solidFill>
            <a:srgbClr val="082B4C"/>
          </a:solidFill>
          <a:ln w="12700">
            <a:solidFill>
              <a:srgbClr val="082B4C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" y="5303520"/>
            <a:ext cx="10131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以巡防实战需求为导向，让网站成为基层知识服务的长期载体。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206240" y="59893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5C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网址：www.xunfangbk.cn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8890">
            <a:solidFill>
              <a:srgbClr val="D6E2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5013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075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巡防百科网站项目汇报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5C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巡防百科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巡防百科网站项目汇报</dc:title>
  <dc:subject>巡防百科网站项目汇报</dc:subject>
  <dc:creator>巡防百科项目组</dc:creator>
  <cp:lastModifiedBy>巡防百科项目组</cp:lastModifiedBy>
  <cp:revision>1</cp:revision>
  <dcterms:created xsi:type="dcterms:W3CDTF">2026-07-12T11:24:49Z</dcterms:created>
  <dcterms:modified xsi:type="dcterms:W3CDTF">2026-07-12T11:24:49Z</dcterms:modified>
</cp:coreProperties>
</file>