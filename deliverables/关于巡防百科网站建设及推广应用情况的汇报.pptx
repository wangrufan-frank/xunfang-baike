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sldIdLst>
    <p:sldId id="256" r:id="rId4"/>
    <p:sldId id="292" r:id="rId6"/>
    <p:sldId id="293" r:id="rId7"/>
    <p:sldId id="257" r:id="rId8"/>
    <p:sldId id="258" r:id="rId9"/>
    <p:sldId id="259" r:id="rId10"/>
    <p:sldId id="260" r:id="rId11"/>
    <p:sldId id="294" r:id="rId12"/>
    <p:sldId id="261" r:id="rId13"/>
    <p:sldId id="262" r:id="rId14"/>
    <p:sldId id="263" r:id="rId15"/>
    <p:sldId id="264" r:id="rId16"/>
    <p:sldId id="265" r:id="rId17"/>
    <p:sldId id="266" r:id="rId18"/>
    <p:sldId id="295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9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Microsoft YaHei" panose="020B0503020204020204" charset="-122"/>
              </a:defRPr>
            </a:lvl9pPr>
          </a:lstStyle>
          <a:p>
            <a:fld id="{A2FB5E86-F9C3-41F9-82A8-07D7C5CAA7C4}" type="slidenum">
              <a:rPr lang="zh-CN" altLang="en-US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907704" y="6466495"/>
            <a:ext cx="1440159" cy="118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0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行</a:t>
            </a:r>
            <a:r>
              <a:rPr sz="10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业</a:t>
            </a:r>
            <a:r>
              <a:rPr sz="10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PPT</a:t>
            </a:r>
            <a:r>
              <a:rPr sz="10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模板</a:t>
            </a:r>
            <a:r>
              <a:rPr sz="100">
                <a:solidFill>
                  <a:prstClr val="black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http://www.1ppt.com/hangye/</a:t>
            </a:r>
            <a:endParaRPr sz="100">
              <a:solidFill>
                <a:prstClr val="black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ft_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0.xml"/><Relationship Id="rId11" Type="http://schemas.openxmlformats.org/officeDocument/2006/relationships/image" Target="../media/image1.png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16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88215"/>
            <a:ext cx="12192000" cy="1269785"/>
          </a:xfrm>
          <a:prstGeom prst="rect">
            <a:avLst/>
          </a:prstGeom>
        </p:spPr>
      </p:pic>
      <p:pic>
        <p:nvPicPr>
          <p:cNvPr id="3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61" y="1909407"/>
            <a:ext cx="2989876" cy="3004900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3524250" y="188595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725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725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rPr>
              <a:t>服务基层实战｜沉淀业务知识｜规范安全应用</a:t>
            </a:r>
            <a:endParaRPr sz="1725">
              <a:solidFill>
                <a:srgbClr val="FFFFFF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76625" y="2362200"/>
            <a:ext cx="7810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6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关于“巡防百科”网站建设及</a:t>
            </a:r>
            <a:endParaRPr sz="36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  <a:p>
            <a:pPr algn="l">
              <a:defRPr sz="36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6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推广应用情况的报告</a:t>
            </a:r>
            <a:endParaRPr sz="36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524250" y="43243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500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00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rPr>
              <a:t>汇报人：王汝凡　　2026年7月</a:t>
            </a:r>
            <a:endParaRPr sz="1500">
              <a:solidFill>
                <a:srgbClr val="FFFFFF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99845" y="2598739"/>
            <a:ext cx="9592310" cy="885824"/>
            <a:chOff x="1299845" y="2598739"/>
            <a:chExt cx="9592310" cy="885824"/>
          </a:xfrm>
        </p:grpSpPr>
        <p:sp>
          <p:nvSpPr>
            <p:cNvPr id="46" name="MH_Other_4"/>
            <p:cNvSpPr/>
            <p:nvPr>
              <p:custDataLst>
                <p:tags r:id="rId2"/>
              </p:custDataLst>
            </p:nvPr>
          </p:nvSpPr>
          <p:spPr>
            <a:xfrm>
              <a:off x="2251794" y="2608263"/>
              <a:ext cx="685800" cy="869950"/>
            </a:xfrm>
            <a:custGeom>
              <a:avLst/>
              <a:gdLst>
                <a:gd name="connsiteX0" fmla="*/ 0 w 685800"/>
                <a:gd name="connsiteY0" fmla="*/ 550069 h 871537"/>
                <a:gd name="connsiteX1" fmla="*/ 128587 w 685800"/>
                <a:gd name="connsiteY1" fmla="*/ 871537 h 871537"/>
                <a:gd name="connsiteX2" fmla="*/ 685800 w 685800"/>
                <a:gd name="connsiteY2" fmla="*/ 864394 h 871537"/>
                <a:gd name="connsiteX3" fmla="*/ 145256 w 685800"/>
                <a:gd name="connsiteY3" fmla="*/ 0 h 871537"/>
                <a:gd name="connsiteX4" fmla="*/ 0 w 685800"/>
                <a:gd name="connsiteY4" fmla="*/ 550069 h 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5800" h="871537">
                  <a:moveTo>
                    <a:pt x="0" y="550069"/>
                  </a:moveTo>
                  <a:lnTo>
                    <a:pt x="128587" y="871537"/>
                  </a:lnTo>
                  <a:lnTo>
                    <a:pt x="685800" y="864394"/>
                  </a:lnTo>
                  <a:lnTo>
                    <a:pt x="145256" y="0"/>
                  </a:lnTo>
                  <a:lnTo>
                    <a:pt x="0" y="550069"/>
                  </a:lnTo>
                  <a:close/>
                </a:path>
              </a:pathLst>
            </a:custGeom>
            <a:solidFill>
              <a:srgbClr val="F4DB24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26" name="MH_Other_5"/>
            <p:cNvSpPr/>
            <p:nvPr>
              <p:custDataLst>
                <p:tags r:id="rId3"/>
              </p:custDataLst>
            </p:nvPr>
          </p:nvSpPr>
          <p:spPr bwMode="auto">
            <a:xfrm>
              <a:off x="2147020" y="2608263"/>
              <a:ext cx="250825" cy="550862"/>
            </a:xfrm>
            <a:custGeom>
              <a:avLst/>
              <a:gdLst>
                <a:gd name="T0" fmla="*/ 2147483646 w 3352"/>
                <a:gd name="T1" fmla="*/ 0 h 7372"/>
                <a:gd name="T2" fmla="*/ 2147483646 w 3352"/>
                <a:gd name="T3" fmla="*/ 0 h 7372"/>
                <a:gd name="T4" fmla="*/ 2147483646 w 3352"/>
                <a:gd name="T5" fmla="*/ 2147483646 h 7372"/>
                <a:gd name="T6" fmla="*/ 2147483646 w 3352"/>
                <a:gd name="T7" fmla="*/ 2147483646 h 7372"/>
                <a:gd name="T8" fmla="*/ 2147483646 w 3352"/>
                <a:gd name="T9" fmla="*/ 2147483646 h 7372"/>
                <a:gd name="T10" fmla="*/ 2147483646 w 3352"/>
                <a:gd name="T11" fmla="*/ 2147483646 h 7372"/>
                <a:gd name="T12" fmla="*/ 2147483646 w 3352"/>
                <a:gd name="T13" fmla="*/ 2147483646 h 7372"/>
                <a:gd name="T14" fmla="*/ 2147483646 w 3352"/>
                <a:gd name="T15" fmla="*/ 2147483646 h 7372"/>
                <a:gd name="T16" fmla="*/ 0 w 3352"/>
                <a:gd name="T17" fmla="*/ 2147483646 h 7372"/>
                <a:gd name="T18" fmla="*/ 0 w 3352"/>
                <a:gd name="T19" fmla="*/ 2147483646 h 7372"/>
                <a:gd name="T20" fmla="*/ 2147483646 w 3352"/>
                <a:gd name="T21" fmla="*/ 0 h 737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52" h="7372">
                  <a:moveTo>
                    <a:pt x="2184" y="0"/>
                  </a:moveTo>
                  <a:cubicBezTo>
                    <a:pt x="2573" y="0"/>
                    <a:pt x="2963" y="0"/>
                    <a:pt x="3352" y="0"/>
                  </a:cubicBezTo>
                  <a:cubicBezTo>
                    <a:pt x="3352" y="2457"/>
                    <a:pt x="3352" y="4915"/>
                    <a:pt x="3352" y="7372"/>
                  </a:cubicBezTo>
                  <a:cubicBezTo>
                    <a:pt x="2691" y="7372"/>
                    <a:pt x="2030" y="7372"/>
                    <a:pt x="1369" y="7372"/>
                  </a:cubicBezTo>
                  <a:cubicBezTo>
                    <a:pt x="1369" y="6055"/>
                    <a:pt x="1369" y="4737"/>
                    <a:pt x="1369" y="3419"/>
                  </a:cubicBezTo>
                  <a:cubicBezTo>
                    <a:pt x="1369" y="2849"/>
                    <a:pt x="1354" y="2506"/>
                    <a:pt x="1325" y="2390"/>
                  </a:cubicBezTo>
                  <a:cubicBezTo>
                    <a:pt x="1296" y="2275"/>
                    <a:pt x="1215" y="2188"/>
                    <a:pt x="1082" y="2128"/>
                  </a:cubicBezTo>
                  <a:cubicBezTo>
                    <a:pt x="950" y="2069"/>
                    <a:pt x="654" y="2040"/>
                    <a:pt x="196" y="2040"/>
                  </a:cubicBezTo>
                  <a:cubicBezTo>
                    <a:pt x="131" y="2040"/>
                    <a:pt x="65" y="2040"/>
                    <a:pt x="0" y="2040"/>
                  </a:cubicBezTo>
                  <a:cubicBezTo>
                    <a:pt x="0" y="1753"/>
                    <a:pt x="0" y="1467"/>
                    <a:pt x="0" y="1180"/>
                  </a:cubicBezTo>
                  <a:cubicBezTo>
                    <a:pt x="959" y="989"/>
                    <a:pt x="1687" y="595"/>
                    <a:pt x="2184" y="0"/>
                  </a:cubicBezTo>
                </a:path>
              </a:pathLst>
            </a:custGeom>
            <a:solidFill>
              <a:srgbClr val="F4DB24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MH_Other_3"/>
            <p:cNvSpPr/>
            <p:nvPr>
              <p:custDataLst>
                <p:tags r:id="rId4"/>
              </p:custDataLst>
            </p:nvPr>
          </p:nvSpPr>
          <p:spPr>
            <a:xfrm>
              <a:off x="4498686" y="2646364"/>
              <a:ext cx="825500" cy="828675"/>
            </a:xfrm>
            <a:custGeom>
              <a:avLst/>
              <a:gdLst>
                <a:gd name="connsiteX0" fmla="*/ 0 w 821531"/>
                <a:gd name="connsiteY0" fmla="*/ 511969 h 828675"/>
                <a:gd name="connsiteX1" fmla="*/ 128587 w 821531"/>
                <a:gd name="connsiteY1" fmla="*/ 828675 h 828675"/>
                <a:gd name="connsiteX2" fmla="*/ 821531 w 821531"/>
                <a:gd name="connsiteY2" fmla="*/ 821531 h 828675"/>
                <a:gd name="connsiteX3" fmla="*/ 309562 w 821531"/>
                <a:gd name="connsiteY3" fmla="*/ 0 h 828675"/>
                <a:gd name="connsiteX4" fmla="*/ 0 w 821531"/>
                <a:gd name="connsiteY4" fmla="*/ 511969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1531" h="828675">
                  <a:moveTo>
                    <a:pt x="0" y="511969"/>
                  </a:moveTo>
                  <a:lnTo>
                    <a:pt x="128587" y="828675"/>
                  </a:lnTo>
                  <a:lnTo>
                    <a:pt x="821531" y="821531"/>
                  </a:lnTo>
                  <a:lnTo>
                    <a:pt x="309562" y="0"/>
                  </a:lnTo>
                  <a:lnTo>
                    <a:pt x="0" y="511969"/>
                  </a:lnTo>
                  <a:close/>
                </a:path>
              </a:pathLst>
            </a:custGeom>
            <a:solidFill>
              <a:srgbClr val="F4DB24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27" name="MH_Other_6"/>
            <p:cNvSpPr/>
            <p:nvPr>
              <p:custDataLst>
                <p:tags r:id="rId5"/>
              </p:custDataLst>
            </p:nvPr>
          </p:nvSpPr>
          <p:spPr bwMode="auto">
            <a:xfrm>
              <a:off x="4498687" y="2608263"/>
              <a:ext cx="360363" cy="552450"/>
            </a:xfrm>
            <a:custGeom>
              <a:avLst/>
              <a:gdLst>
                <a:gd name="T0" fmla="*/ 2147483646 w 4819"/>
                <a:gd name="T1" fmla="*/ 0 h 7373"/>
                <a:gd name="T2" fmla="*/ 2147483646 w 4819"/>
                <a:gd name="T3" fmla="*/ 2147483646 h 7373"/>
                <a:gd name="T4" fmla="*/ 2147483646 w 4819"/>
                <a:gd name="T5" fmla="*/ 2147483646 h 7373"/>
                <a:gd name="T6" fmla="*/ 2147483646 w 4819"/>
                <a:gd name="T7" fmla="*/ 2147483646 h 7373"/>
                <a:gd name="T8" fmla="*/ 2147483646 w 4819"/>
                <a:gd name="T9" fmla="*/ 2147483646 h 7373"/>
                <a:gd name="T10" fmla="*/ 2147483646 w 4819"/>
                <a:gd name="T11" fmla="*/ 2147483646 h 7373"/>
                <a:gd name="T12" fmla="*/ 2147483646 w 4819"/>
                <a:gd name="T13" fmla="*/ 2147483646 h 7373"/>
                <a:gd name="T14" fmla="*/ 0 w 4819"/>
                <a:gd name="T15" fmla="*/ 2147483646 h 7373"/>
                <a:gd name="T16" fmla="*/ 2147483646 w 4819"/>
                <a:gd name="T17" fmla="*/ 2147483646 h 7373"/>
                <a:gd name="T18" fmla="*/ 2147483646 w 4819"/>
                <a:gd name="T19" fmla="*/ 2147483646 h 7373"/>
                <a:gd name="T20" fmla="*/ 2147483646 w 4819"/>
                <a:gd name="T21" fmla="*/ 2147483646 h 7373"/>
                <a:gd name="T22" fmla="*/ 2147483646 w 4819"/>
                <a:gd name="T23" fmla="*/ 2147483646 h 7373"/>
                <a:gd name="T24" fmla="*/ 2147483646 w 4819"/>
                <a:gd name="T25" fmla="*/ 2147483646 h 7373"/>
                <a:gd name="T26" fmla="*/ 2147483646 w 4819"/>
                <a:gd name="T27" fmla="*/ 2147483646 h 7373"/>
                <a:gd name="T28" fmla="*/ 2147483646 w 4819"/>
                <a:gd name="T29" fmla="*/ 2147483646 h 7373"/>
                <a:gd name="T30" fmla="*/ 2147483646 w 4819"/>
                <a:gd name="T31" fmla="*/ 2147483646 h 7373"/>
                <a:gd name="T32" fmla="*/ 0 w 4819"/>
                <a:gd name="T33" fmla="*/ 2147483646 h 7373"/>
                <a:gd name="T34" fmla="*/ 0 w 4819"/>
                <a:gd name="T35" fmla="*/ 2147483646 h 7373"/>
                <a:gd name="T36" fmla="*/ 2147483646 w 4819"/>
                <a:gd name="T37" fmla="*/ 2147483646 h 7373"/>
                <a:gd name="T38" fmla="*/ 2147483646 w 4819"/>
                <a:gd name="T39" fmla="*/ 2147483646 h 7373"/>
                <a:gd name="T40" fmla="*/ 2147483646 w 4819"/>
                <a:gd name="T41" fmla="*/ 2147483646 h 7373"/>
                <a:gd name="T42" fmla="*/ 2147483646 w 4819"/>
                <a:gd name="T43" fmla="*/ 0 h 737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819" h="7373">
                  <a:moveTo>
                    <a:pt x="2276" y="0"/>
                  </a:moveTo>
                  <a:cubicBezTo>
                    <a:pt x="3113" y="0"/>
                    <a:pt x="3746" y="178"/>
                    <a:pt x="4175" y="534"/>
                  </a:cubicBezTo>
                  <a:cubicBezTo>
                    <a:pt x="4604" y="890"/>
                    <a:pt x="4819" y="1341"/>
                    <a:pt x="4819" y="1886"/>
                  </a:cubicBezTo>
                  <a:cubicBezTo>
                    <a:pt x="4819" y="2300"/>
                    <a:pt x="4698" y="2738"/>
                    <a:pt x="4457" y="3199"/>
                  </a:cubicBezTo>
                  <a:cubicBezTo>
                    <a:pt x="4215" y="3661"/>
                    <a:pt x="3504" y="4641"/>
                    <a:pt x="2323" y="6140"/>
                  </a:cubicBezTo>
                  <a:cubicBezTo>
                    <a:pt x="3093" y="6140"/>
                    <a:pt x="3862" y="6140"/>
                    <a:pt x="4631" y="6140"/>
                  </a:cubicBezTo>
                  <a:cubicBezTo>
                    <a:pt x="4631" y="6551"/>
                    <a:pt x="4631" y="6962"/>
                    <a:pt x="4631" y="7373"/>
                  </a:cubicBezTo>
                  <a:cubicBezTo>
                    <a:pt x="3087" y="7373"/>
                    <a:pt x="1544" y="7373"/>
                    <a:pt x="0" y="7373"/>
                  </a:cubicBezTo>
                  <a:cubicBezTo>
                    <a:pt x="0" y="7029"/>
                    <a:pt x="1" y="6685"/>
                    <a:pt x="1" y="6341"/>
                  </a:cubicBezTo>
                  <a:cubicBezTo>
                    <a:pt x="1373" y="4416"/>
                    <a:pt x="2188" y="3225"/>
                    <a:pt x="2447" y="2768"/>
                  </a:cubicBezTo>
                  <a:cubicBezTo>
                    <a:pt x="2706" y="2311"/>
                    <a:pt x="2835" y="1954"/>
                    <a:pt x="2835" y="1698"/>
                  </a:cubicBezTo>
                  <a:cubicBezTo>
                    <a:pt x="2835" y="1501"/>
                    <a:pt x="2796" y="1355"/>
                    <a:pt x="2718" y="1258"/>
                  </a:cubicBezTo>
                  <a:cubicBezTo>
                    <a:pt x="2640" y="1161"/>
                    <a:pt x="2520" y="1113"/>
                    <a:pt x="2360" y="1113"/>
                  </a:cubicBezTo>
                  <a:cubicBezTo>
                    <a:pt x="2200" y="1113"/>
                    <a:pt x="2081" y="1166"/>
                    <a:pt x="2003" y="1274"/>
                  </a:cubicBezTo>
                  <a:cubicBezTo>
                    <a:pt x="1925" y="1381"/>
                    <a:pt x="1886" y="1594"/>
                    <a:pt x="1886" y="1913"/>
                  </a:cubicBezTo>
                  <a:cubicBezTo>
                    <a:pt x="1886" y="2142"/>
                    <a:pt x="1886" y="2371"/>
                    <a:pt x="1886" y="2601"/>
                  </a:cubicBezTo>
                  <a:cubicBezTo>
                    <a:pt x="1257" y="2601"/>
                    <a:pt x="628" y="2601"/>
                    <a:pt x="0" y="2601"/>
                  </a:cubicBezTo>
                  <a:cubicBezTo>
                    <a:pt x="0" y="2513"/>
                    <a:pt x="0" y="2425"/>
                    <a:pt x="0" y="2337"/>
                  </a:cubicBezTo>
                  <a:cubicBezTo>
                    <a:pt x="0" y="1932"/>
                    <a:pt x="24" y="1612"/>
                    <a:pt x="73" y="1379"/>
                  </a:cubicBezTo>
                  <a:cubicBezTo>
                    <a:pt x="121" y="1145"/>
                    <a:pt x="241" y="915"/>
                    <a:pt x="432" y="688"/>
                  </a:cubicBezTo>
                  <a:cubicBezTo>
                    <a:pt x="623" y="462"/>
                    <a:pt x="872" y="291"/>
                    <a:pt x="1177" y="174"/>
                  </a:cubicBezTo>
                  <a:cubicBezTo>
                    <a:pt x="1483" y="58"/>
                    <a:pt x="1849" y="0"/>
                    <a:pt x="2276" y="0"/>
                  </a:cubicBezTo>
                </a:path>
              </a:pathLst>
            </a:custGeom>
            <a:solidFill>
              <a:srgbClr val="F4DB24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MH_Other_2"/>
            <p:cNvSpPr/>
            <p:nvPr>
              <p:custDataLst>
                <p:tags r:id="rId6"/>
              </p:custDataLst>
            </p:nvPr>
          </p:nvSpPr>
          <p:spPr>
            <a:xfrm>
              <a:off x="6953540" y="2640013"/>
              <a:ext cx="735012" cy="844550"/>
            </a:xfrm>
            <a:custGeom>
              <a:avLst/>
              <a:gdLst>
                <a:gd name="connsiteX0" fmla="*/ 0 w 735806"/>
                <a:gd name="connsiteY0" fmla="*/ 495300 h 842963"/>
                <a:gd name="connsiteX1" fmla="*/ 138112 w 735806"/>
                <a:gd name="connsiteY1" fmla="*/ 842963 h 842963"/>
                <a:gd name="connsiteX2" fmla="*/ 735806 w 735806"/>
                <a:gd name="connsiteY2" fmla="*/ 828675 h 842963"/>
                <a:gd name="connsiteX3" fmla="*/ 721519 w 735806"/>
                <a:gd name="connsiteY3" fmla="*/ 790575 h 842963"/>
                <a:gd name="connsiteX4" fmla="*/ 230981 w 735806"/>
                <a:gd name="connsiteY4" fmla="*/ 0 h 842963"/>
                <a:gd name="connsiteX5" fmla="*/ 0 w 735806"/>
                <a:gd name="connsiteY5" fmla="*/ 495300 h 842963"/>
                <a:gd name="connsiteX0-1" fmla="*/ 0 w 735806"/>
                <a:gd name="connsiteY0-2" fmla="*/ 495300 h 842963"/>
                <a:gd name="connsiteX1-3" fmla="*/ 138112 w 735806"/>
                <a:gd name="connsiteY1-4" fmla="*/ 842963 h 842963"/>
                <a:gd name="connsiteX2-5" fmla="*/ 735806 w 735806"/>
                <a:gd name="connsiteY2-6" fmla="*/ 828675 h 842963"/>
                <a:gd name="connsiteX3-7" fmla="*/ 721519 w 735806"/>
                <a:gd name="connsiteY3-8" fmla="*/ 790575 h 842963"/>
                <a:gd name="connsiteX4-9" fmla="*/ 235743 w 735806"/>
                <a:gd name="connsiteY4-10" fmla="*/ 0 h 842963"/>
                <a:gd name="connsiteX5-11" fmla="*/ 0 w 735806"/>
                <a:gd name="connsiteY5-12" fmla="*/ 495300 h 84296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35806" h="842963">
                  <a:moveTo>
                    <a:pt x="0" y="495300"/>
                  </a:moveTo>
                  <a:lnTo>
                    <a:pt x="138112" y="842963"/>
                  </a:lnTo>
                  <a:lnTo>
                    <a:pt x="735806" y="828675"/>
                  </a:lnTo>
                  <a:lnTo>
                    <a:pt x="721519" y="790575"/>
                  </a:lnTo>
                  <a:lnTo>
                    <a:pt x="235743" y="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F4DB24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28" name="MH_Other_7"/>
            <p:cNvSpPr/>
            <p:nvPr>
              <p:custDataLst>
                <p:tags r:id="rId7"/>
              </p:custDataLst>
            </p:nvPr>
          </p:nvSpPr>
          <p:spPr bwMode="auto">
            <a:xfrm>
              <a:off x="6872578" y="2608263"/>
              <a:ext cx="360363" cy="552450"/>
            </a:xfrm>
            <a:custGeom>
              <a:avLst/>
              <a:gdLst>
                <a:gd name="T0" fmla="*/ 2147483646 w 4819"/>
                <a:gd name="T1" fmla="*/ 0 h 7373"/>
                <a:gd name="T2" fmla="*/ 2147483646 w 4819"/>
                <a:gd name="T3" fmla="*/ 2147483646 h 7373"/>
                <a:gd name="T4" fmla="*/ 2147483646 w 4819"/>
                <a:gd name="T5" fmla="*/ 2147483646 h 7373"/>
                <a:gd name="T6" fmla="*/ 2147483646 w 4819"/>
                <a:gd name="T7" fmla="*/ 2147483646 h 7373"/>
                <a:gd name="T8" fmla="*/ 2147483646 w 4819"/>
                <a:gd name="T9" fmla="*/ 2147483646 h 7373"/>
                <a:gd name="T10" fmla="*/ 2147483646 w 4819"/>
                <a:gd name="T11" fmla="*/ 2147483646 h 7373"/>
                <a:gd name="T12" fmla="*/ 2147483646 w 4819"/>
                <a:gd name="T13" fmla="*/ 2147483646 h 7373"/>
                <a:gd name="T14" fmla="*/ 2147483646 w 4819"/>
                <a:gd name="T15" fmla="*/ 2147483646 h 7373"/>
                <a:gd name="T16" fmla="*/ 2147483646 w 4819"/>
                <a:gd name="T17" fmla="*/ 2147483646 h 7373"/>
                <a:gd name="T18" fmla="*/ 2147483646 w 4819"/>
                <a:gd name="T19" fmla="*/ 2147483646 h 7373"/>
                <a:gd name="T20" fmla="*/ 2147483646 w 4819"/>
                <a:gd name="T21" fmla="*/ 2147483646 h 7373"/>
                <a:gd name="T22" fmla="*/ 2147483646 w 4819"/>
                <a:gd name="T23" fmla="*/ 2147483646 h 7373"/>
                <a:gd name="T24" fmla="*/ 0 w 4819"/>
                <a:gd name="T25" fmla="*/ 2147483646 h 7373"/>
                <a:gd name="T26" fmla="*/ 0 w 4819"/>
                <a:gd name="T27" fmla="*/ 2147483646 h 7373"/>
                <a:gd name="T28" fmla="*/ 2147483646 w 4819"/>
                <a:gd name="T29" fmla="*/ 2147483646 h 7373"/>
                <a:gd name="T30" fmla="*/ 2147483646 w 4819"/>
                <a:gd name="T31" fmla="*/ 2147483646 h 7373"/>
                <a:gd name="T32" fmla="*/ 2147483646 w 4819"/>
                <a:gd name="T33" fmla="*/ 2147483646 h 7373"/>
                <a:gd name="T34" fmla="*/ 2147483646 w 4819"/>
                <a:gd name="T35" fmla="*/ 2147483646 h 7373"/>
                <a:gd name="T36" fmla="*/ 2147483646 w 4819"/>
                <a:gd name="T37" fmla="*/ 2147483646 h 7373"/>
                <a:gd name="T38" fmla="*/ 2147483646 w 4819"/>
                <a:gd name="T39" fmla="*/ 2147483646 h 7373"/>
                <a:gd name="T40" fmla="*/ 2147483646 w 4819"/>
                <a:gd name="T41" fmla="*/ 2147483646 h 7373"/>
                <a:gd name="T42" fmla="*/ 2147483646 w 4819"/>
                <a:gd name="T43" fmla="*/ 2147483646 h 7373"/>
                <a:gd name="T44" fmla="*/ 2147483646 w 4819"/>
                <a:gd name="T45" fmla="*/ 2147483646 h 7373"/>
                <a:gd name="T46" fmla="*/ 2147483646 w 4819"/>
                <a:gd name="T47" fmla="*/ 2147483646 h 7373"/>
                <a:gd name="T48" fmla="*/ 2147483646 w 4819"/>
                <a:gd name="T49" fmla="*/ 2147483646 h 7373"/>
                <a:gd name="T50" fmla="*/ 2147483646 w 4819"/>
                <a:gd name="T51" fmla="*/ 2147483646 h 7373"/>
                <a:gd name="T52" fmla="*/ 2147483646 w 4819"/>
                <a:gd name="T53" fmla="*/ 2147483646 h 7373"/>
                <a:gd name="T54" fmla="*/ 2147483646 w 4819"/>
                <a:gd name="T55" fmla="*/ 2147483646 h 7373"/>
                <a:gd name="T56" fmla="*/ 2147483646 w 4819"/>
                <a:gd name="T57" fmla="*/ 2147483646 h 7373"/>
                <a:gd name="T58" fmla="*/ 2147483646 w 4819"/>
                <a:gd name="T59" fmla="*/ 2147483646 h 7373"/>
                <a:gd name="T60" fmla="*/ 2147483646 w 4819"/>
                <a:gd name="T61" fmla="*/ 2147483646 h 7373"/>
                <a:gd name="T62" fmla="*/ 2147483646 w 4819"/>
                <a:gd name="T63" fmla="*/ 2147483646 h 7373"/>
                <a:gd name="T64" fmla="*/ 2147483646 w 4819"/>
                <a:gd name="T65" fmla="*/ 2147483646 h 7373"/>
                <a:gd name="T66" fmla="*/ 2147483646 w 4819"/>
                <a:gd name="T67" fmla="*/ 2147483646 h 7373"/>
                <a:gd name="T68" fmla="*/ 0 w 4819"/>
                <a:gd name="T69" fmla="*/ 2147483646 h 7373"/>
                <a:gd name="T70" fmla="*/ 0 w 4819"/>
                <a:gd name="T71" fmla="*/ 2147483646 h 7373"/>
                <a:gd name="T72" fmla="*/ 2147483646 w 4819"/>
                <a:gd name="T73" fmla="*/ 2147483646 h 7373"/>
                <a:gd name="T74" fmla="*/ 2147483646 w 4819"/>
                <a:gd name="T75" fmla="*/ 0 h 737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819" h="7373">
                  <a:moveTo>
                    <a:pt x="2240" y="0"/>
                  </a:moveTo>
                  <a:cubicBezTo>
                    <a:pt x="3214" y="0"/>
                    <a:pt x="3875" y="165"/>
                    <a:pt x="4222" y="495"/>
                  </a:cubicBezTo>
                  <a:cubicBezTo>
                    <a:pt x="4569" y="825"/>
                    <a:pt x="4743" y="1283"/>
                    <a:pt x="4743" y="1869"/>
                  </a:cubicBezTo>
                  <a:cubicBezTo>
                    <a:pt x="4743" y="2266"/>
                    <a:pt x="4681" y="2553"/>
                    <a:pt x="4556" y="2730"/>
                  </a:cubicBezTo>
                  <a:cubicBezTo>
                    <a:pt x="4431" y="2906"/>
                    <a:pt x="4212" y="3067"/>
                    <a:pt x="3898" y="3213"/>
                  </a:cubicBezTo>
                  <a:cubicBezTo>
                    <a:pt x="4209" y="3304"/>
                    <a:pt x="4440" y="3452"/>
                    <a:pt x="4591" y="3658"/>
                  </a:cubicBezTo>
                  <a:cubicBezTo>
                    <a:pt x="4743" y="3864"/>
                    <a:pt x="4819" y="4347"/>
                    <a:pt x="4819" y="5107"/>
                  </a:cubicBezTo>
                  <a:cubicBezTo>
                    <a:pt x="4819" y="5671"/>
                    <a:pt x="4745" y="6108"/>
                    <a:pt x="4596" y="6419"/>
                  </a:cubicBezTo>
                  <a:cubicBezTo>
                    <a:pt x="4448" y="6731"/>
                    <a:pt x="4192" y="6967"/>
                    <a:pt x="3828" y="7129"/>
                  </a:cubicBezTo>
                  <a:cubicBezTo>
                    <a:pt x="3464" y="7292"/>
                    <a:pt x="2997" y="7373"/>
                    <a:pt x="2427" y="7373"/>
                  </a:cubicBezTo>
                  <a:cubicBezTo>
                    <a:pt x="1780" y="7373"/>
                    <a:pt x="1272" y="7279"/>
                    <a:pt x="902" y="7090"/>
                  </a:cubicBezTo>
                  <a:cubicBezTo>
                    <a:pt x="533" y="6902"/>
                    <a:pt x="291" y="6671"/>
                    <a:pt x="174" y="6398"/>
                  </a:cubicBezTo>
                  <a:cubicBezTo>
                    <a:pt x="58" y="6125"/>
                    <a:pt x="0" y="5651"/>
                    <a:pt x="0" y="4977"/>
                  </a:cubicBezTo>
                  <a:cubicBezTo>
                    <a:pt x="0" y="4790"/>
                    <a:pt x="0" y="4603"/>
                    <a:pt x="0" y="4416"/>
                  </a:cubicBezTo>
                  <a:cubicBezTo>
                    <a:pt x="681" y="4416"/>
                    <a:pt x="1362" y="4416"/>
                    <a:pt x="2043" y="4416"/>
                  </a:cubicBezTo>
                  <a:cubicBezTo>
                    <a:pt x="2043" y="4800"/>
                    <a:pt x="2043" y="5184"/>
                    <a:pt x="2043" y="5568"/>
                  </a:cubicBezTo>
                  <a:cubicBezTo>
                    <a:pt x="2043" y="5875"/>
                    <a:pt x="2064" y="6070"/>
                    <a:pt x="2106" y="6153"/>
                  </a:cubicBezTo>
                  <a:cubicBezTo>
                    <a:pt x="2148" y="6236"/>
                    <a:pt x="2242" y="6278"/>
                    <a:pt x="2387" y="6278"/>
                  </a:cubicBezTo>
                  <a:cubicBezTo>
                    <a:pt x="2545" y="6278"/>
                    <a:pt x="2649" y="6225"/>
                    <a:pt x="2700" y="6120"/>
                  </a:cubicBezTo>
                  <a:cubicBezTo>
                    <a:pt x="2751" y="6015"/>
                    <a:pt x="2776" y="5740"/>
                    <a:pt x="2776" y="5296"/>
                  </a:cubicBezTo>
                  <a:cubicBezTo>
                    <a:pt x="2776" y="5133"/>
                    <a:pt x="2776" y="4969"/>
                    <a:pt x="2776" y="4806"/>
                  </a:cubicBezTo>
                  <a:cubicBezTo>
                    <a:pt x="2776" y="4534"/>
                    <a:pt x="2741" y="4336"/>
                    <a:pt x="2670" y="4210"/>
                  </a:cubicBezTo>
                  <a:cubicBezTo>
                    <a:pt x="2599" y="4084"/>
                    <a:pt x="2494" y="4002"/>
                    <a:pt x="2356" y="3962"/>
                  </a:cubicBezTo>
                  <a:cubicBezTo>
                    <a:pt x="2218" y="3923"/>
                    <a:pt x="1950" y="3900"/>
                    <a:pt x="1552" y="3895"/>
                  </a:cubicBezTo>
                  <a:cubicBezTo>
                    <a:pt x="1552" y="3551"/>
                    <a:pt x="1552" y="3208"/>
                    <a:pt x="1552" y="2865"/>
                  </a:cubicBezTo>
                  <a:cubicBezTo>
                    <a:pt x="2038" y="2865"/>
                    <a:pt x="2338" y="2849"/>
                    <a:pt x="2452" y="2817"/>
                  </a:cubicBezTo>
                  <a:cubicBezTo>
                    <a:pt x="2567" y="2785"/>
                    <a:pt x="2649" y="2715"/>
                    <a:pt x="2700" y="2607"/>
                  </a:cubicBezTo>
                  <a:cubicBezTo>
                    <a:pt x="2751" y="2499"/>
                    <a:pt x="2776" y="2329"/>
                    <a:pt x="2776" y="2098"/>
                  </a:cubicBezTo>
                  <a:cubicBezTo>
                    <a:pt x="2776" y="1967"/>
                    <a:pt x="2776" y="1836"/>
                    <a:pt x="2776" y="1704"/>
                  </a:cubicBezTo>
                  <a:cubicBezTo>
                    <a:pt x="2776" y="1456"/>
                    <a:pt x="2746" y="1292"/>
                    <a:pt x="2687" y="1214"/>
                  </a:cubicBezTo>
                  <a:cubicBezTo>
                    <a:pt x="2628" y="1135"/>
                    <a:pt x="2537" y="1095"/>
                    <a:pt x="2412" y="1095"/>
                  </a:cubicBezTo>
                  <a:cubicBezTo>
                    <a:pt x="2270" y="1095"/>
                    <a:pt x="2173" y="1137"/>
                    <a:pt x="2121" y="1220"/>
                  </a:cubicBezTo>
                  <a:cubicBezTo>
                    <a:pt x="2069" y="1303"/>
                    <a:pt x="2043" y="1481"/>
                    <a:pt x="2043" y="1752"/>
                  </a:cubicBezTo>
                  <a:cubicBezTo>
                    <a:pt x="2043" y="1947"/>
                    <a:pt x="2043" y="2141"/>
                    <a:pt x="2043" y="2335"/>
                  </a:cubicBezTo>
                  <a:cubicBezTo>
                    <a:pt x="1362" y="2335"/>
                    <a:pt x="681" y="2335"/>
                    <a:pt x="0" y="2335"/>
                  </a:cubicBezTo>
                  <a:cubicBezTo>
                    <a:pt x="0" y="2134"/>
                    <a:pt x="0" y="1932"/>
                    <a:pt x="0" y="1730"/>
                  </a:cubicBezTo>
                  <a:cubicBezTo>
                    <a:pt x="0" y="1053"/>
                    <a:pt x="178" y="595"/>
                    <a:pt x="536" y="357"/>
                  </a:cubicBezTo>
                  <a:cubicBezTo>
                    <a:pt x="893" y="119"/>
                    <a:pt x="1461" y="0"/>
                    <a:pt x="2240" y="0"/>
                  </a:cubicBezTo>
                </a:path>
              </a:pathLst>
            </a:custGeom>
            <a:solidFill>
              <a:srgbClr val="F4DB24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MH_Other_1"/>
            <p:cNvSpPr/>
            <p:nvPr>
              <p:custDataLst>
                <p:tags r:id="rId8"/>
              </p:custDataLst>
            </p:nvPr>
          </p:nvSpPr>
          <p:spPr>
            <a:xfrm>
              <a:off x="9231387" y="2598739"/>
              <a:ext cx="836613" cy="876300"/>
            </a:xfrm>
            <a:custGeom>
              <a:avLst/>
              <a:gdLst>
                <a:gd name="connsiteX0" fmla="*/ 0 w 812006"/>
                <a:gd name="connsiteY0" fmla="*/ 454819 h 876300"/>
                <a:gd name="connsiteX1" fmla="*/ 166687 w 812006"/>
                <a:gd name="connsiteY1" fmla="*/ 876300 h 876300"/>
                <a:gd name="connsiteX2" fmla="*/ 812006 w 812006"/>
                <a:gd name="connsiteY2" fmla="*/ 862012 h 876300"/>
                <a:gd name="connsiteX3" fmla="*/ 309562 w 812006"/>
                <a:gd name="connsiteY3" fmla="*/ 0 h 876300"/>
                <a:gd name="connsiteX4" fmla="*/ 0 w 812006"/>
                <a:gd name="connsiteY4" fmla="*/ 454819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2006" h="876300">
                  <a:moveTo>
                    <a:pt x="0" y="454819"/>
                  </a:moveTo>
                  <a:lnTo>
                    <a:pt x="166687" y="876300"/>
                  </a:lnTo>
                  <a:lnTo>
                    <a:pt x="812006" y="862012"/>
                  </a:lnTo>
                  <a:lnTo>
                    <a:pt x="309562" y="0"/>
                  </a:lnTo>
                  <a:lnTo>
                    <a:pt x="0" y="454819"/>
                  </a:lnTo>
                  <a:close/>
                </a:path>
              </a:pathLst>
            </a:custGeom>
            <a:solidFill>
              <a:srgbClr val="F4DB24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5129" name="MH_Other_8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9231387" y="2598739"/>
              <a:ext cx="360363" cy="552450"/>
            </a:xfrm>
            <a:custGeom>
              <a:avLst/>
              <a:gdLst>
                <a:gd name="T0" fmla="*/ 2147483646 w 4819"/>
                <a:gd name="T1" fmla="*/ 2147483646 h 7373"/>
                <a:gd name="T2" fmla="*/ 2147483646 w 4819"/>
                <a:gd name="T3" fmla="*/ 2147483646 h 7373"/>
                <a:gd name="T4" fmla="*/ 2147483646 w 4819"/>
                <a:gd name="T5" fmla="*/ 2147483646 h 7373"/>
                <a:gd name="T6" fmla="*/ 2147483646 w 4819"/>
                <a:gd name="T7" fmla="*/ 2147483646 h 7373"/>
                <a:gd name="T8" fmla="*/ 2147483646 w 4819"/>
                <a:gd name="T9" fmla="*/ 0 h 7373"/>
                <a:gd name="T10" fmla="*/ 2147483646 w 4819"/>
                <a:gd name="T11" fmla="*/ 0 h 7373"/>
                <a:gd name="T12" fmla="*/ 2147483646 w 4819"/>
                <a:gd name="T13" fmla="*/ 2147483646 h 7373"/>
                <a:gd name="T14" fmla="*/ 2147483646 w 4819"/>
                <a:gd name="T15" fmla="*/ 2147483646 h 7373"/>
                <a:gd name="T16" fmla="*/ 2147483646 w 4819"/>
                <a:gd name="T17" fmla="*/ 2147483646 h 7373"/>
                <a:gd name="T18" fmla="*/ 2147483646 w 4819"/>
                <a:gd name="T19" fmla="*/ 2147483646 h 7373"/>
                <a:gd name="T20" fmla="*/ 2147483646 w 4819"/>
                <a:gd name="T21" fmla="*/ 2147483646 h 7373"/>
                <a:gd name="T22" fmla="*/ 2147483646 w 4819"/>
                <a:gd name="T23" fmla="*/ 2147483646 h 7373"/>
                <a:gd name="T24" fmla="*/ 2147483646 w 4819"/>
                <a:gd name="T25" fmla="*/ 2147483646 h 7373"/>
                <a:gd name="T26" fmla="*/ 0 w 4819"/>
                <a:gd name="T27" fmla="*/ 2147483646 h 7373"/>
                <a:gd name="T28" fmla="*/ 0 w 4819"/>
                <a:gd name="T29" fmla="*/ 2147483646 h 7373"/>
                <a:gd name="T30" fmla="*/ 2147483646 w 4819"/>
                <a:gd name="T31" fmla="*/ 0 h 737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819" h="7373">
                  <a:moveTo>
                    <a:pt x="2315" y="1680"/>
                  </a:moveTo>
                  <a:cubicBezTo>
                    <a:pt x="2028" y="2726"/>
                    <a:pt x="1741" y="3772"/>
                    <a:pt x="1454" y="4818"/>
                  </a:cubicBezTo>
                  <a:cubicBezTo>
                    <a:pt x="1741" y="4818"/>
                    <a:pt x="2028" y="4818"/>
                    <a:pt x="2315" y="4818"/>
                  </a:cubicBezTo>
                  <a:cubicBezTo>
                    <a:pt x="2315" y="3772"/>
                    <a:pt x="2315" y="2726"/>
                    <a:pt x="2315" y="1680"/>
                  </a:cubicBezTo>
                  <a:close/>
                  <a:moveTo>
                    <a:pt x="1683" y="0"/>
                  </a:moveTo>
                  <a:cubicBezTo>
                    <a:pt x="2544" y="0"/>
                    <a:pt x="3404" y="0"/>
                    <a:pt x="4264" y="0"/>
                  </a:cubicBezTo>
                  <a:cubicBezTo>
                    <a:pt x="4264" y="1606"/>
                    <a:pt x="4264" y="3212"/>
                    <a:pt x="4264" y="4818"/>
                  </a:cubicBezTo>
                  <a:cubicBezTo>
                    <a:pt x="4449" y="4818"/>
                    <a:pt x="4634" y="4818"/>
                    <a:pt x="4819" y="4818"/>
                  </a:cubicBezTo>
                  <a:cubicBezTo>
                    <a:pt x="4819" y="5237"/>
                    <a:pt x="4819" y="5656"/>
                    <a:pt x="4819" y="6075"/>
                  </a:cubicBezTo>
                  <a:cubicBezTo>
                    <a:pt x="4634" y="6075"/>
                    <a:pt x="4449" y="6075"/>
                    <a:pt x="4264" y="6075"/>
                  </a:cubicBezTo>
                  <a:cubicBezTo>
                    <a:pt x="4264" y="6508"/>
                    <a:pt x="4264" y="6940"/>
                    <a:pt x="4264" y="7373"/>
                  </a:cubicBezTo>
                  <a:cubicBezTo>
                    <a:pt x="3614" y="7373"/>
                    <a:pt x="2965" y="7373"/>
                    <a:pt x="2315" y="7373"/>
                  </a:cubicBezTo>
                  <a:cubicBezTo>
                    <a:pt x="2315" y="6940"/>
                    <a:pt x="2315" y="6508"/>
                    <a:pt x="2315" y="6075"/>
                  </a:cubicBezTo>
                  <a:cubicBezTo>
                    <a:pt x="1543" y="6075"/>
                    <a:pt x="772" y="6075"/>
                    <a:pt x="0" y="6075"/>
                  </a:cubicBezTo>
                  <a:cubicBezTo>
                    <a:pt x="0" y="5656"/>
                    <a:pt x="0" y="5237"/>
                    <a:pt x="0" y="4818"/>
                  </a:cubicBezTo>
                  <a:cubicBezTo>
                    <a:pt x="561" y="3212"/>
                    <a:pt x="1122" y="1606"/>
                    <a:pt x="1683" y="0"/>
                  </a:cubicBezTo>
                  <a:close/>
                </a:path>
              </a:pathLst>
            </a:custGeom>
            <a:solidFill>
              <a:srgbClr val="F4DB24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cxnSp>
          <p:nvCxnSpPr>
            <p:cNvPr id="32" name="MH_Other_9"/>
            <p:cNvCxnSpPr/>
            <p:nvPr>
              <p:custDataLst>
                <p:tags r:id="rId10"/>
              </p:custDataLst>
            </p:nvPr>
          </p:nvCxnSpPr>
          <p:spPr>
            <a:xfrm>
              <a:off x="1299845" y="3467100"/>
              <a:ext cx="9592310" cy="0"/>
            </a:xfrm>
            <a:prstGeom prst="line">
              <a:avLst/>
            </a:prstGeom>
            <a:ln w="25400">
              <a:solidFill>
                <a:srgbClr val="F4DB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3906982" y="878021"/>
            <a:ext cx="4378037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en-US" altLang="zh-CN" sz="4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CONTENTS</a:t>
            </a:r>
            <a:endParaRPr lang="en-US" altLang="zh-CN" sz="44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78525" y="3852282"/>
            <a:ext cx="2327564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6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手册</a:t>
            </a:r>
            <a:r>
              <a:rPr lang="zh-CN" altLang="en-US" sz="2800" spc="6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总览 </a:t>
            </a:r>
            <a:endParaRPr lang="en-US" altLang="zh-CN" sz="13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47654" y="3852283"/>
            <a:ext cx="2327564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6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建设</a:t>
            </a:r>
            <a:r>
              <a:rPr lang="zh-CN" altLang="en-US" sz="2800" spc="6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定位</a:t>
            </a:r>
            <a:endParaRPr lang="zh-CN" altLang="en-US" sz="2800" spc="6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16783" y="3852283"/>
            <a:ext cx="2327564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6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内容</a:t>
            </a:r>
            <a:r>
              <a:rPr lang="zh-CN" altLang="en-US" sz="2800" spc="6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应用</a:t>
            </a:r>
            <a:endParaRPr lang="zh-CN" altLang="en-US" sz="2800" spc="6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85911" y="3852283"/>
            <a:ext cx="2327564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spc="6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演示计划</a:t>
            </a:r>
            <a:endParaRPr lang="zh-CN" altLang="en-US" sz="2800" spc="6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8215"/>
            <a:ext cx="12192000" cy="126978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487527" y="693191"/>
            <a:ext cx="1864613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4400" dirty="0">
                <a:solidFill>
                  <a:schemeClr val="bg1">
                    <a:alpha val="15000"/>
                  </a:schemeClr>
                </a:solidFill>
                <a:latin typeface="Impact" panose="020B0806030902050204" pitchFamily="34" charset="0"/>
              </a:rPr>
              <a:t>1</a:t>
            </a:r>
            <a:endParaRPr kumimoji="1" lang="ja-JP" altLang="en-US" sz="34400" dirty="0">
              <a:solidFill>
                <a:schemeClr val="bg1">
                  <a:alpha val="1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6" name="图片 5" descr="图片包含 游戏机, 照片, 桌子, 蛋糕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964" y="2176796"/>
            <a:ext cx="2989876" cy="30049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415694" y="3950899"/>
            <a:ext cx="4008278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Microsoft YaHei" panose="020B0503020204020204" charset="-122"/>
              </a:rPr>
              <a:t>建设背景、核心能力、成果</a:t>
            </a: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Microsoft YaHei" panose="020B0503020204020204" charset="-122"/>
              </a:rPr>
              <a:t>概览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Microsoft YaHei" panose="020B0503020204020204" charset="-122"/>
            </a:endParaRPr>
          </a:p>
        </p:txBody>
      </p:sp>
      <p:sp>
        <p:nvSpPr>
          <p:cNvPr id="23" name="标题 4"/>
          <p:cNvSpPr txBox="1"/>
          <p:nvPr/>
        </p:nvSpPr>
        <p:spPr>
          <a:xfrm>
            <a:off x="5439199" y="2959737"/>
            <a:ext cx="3961268" cy="4264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spc="6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手册总览</a:t>
            </a:r>
            <a:r>
              <a:rPr lang="zh-CN" altLang="en-US" sz="4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endParaRPr lang="zh-CN" altLang="en-US" sz="40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360516" y="3679246"/>
            <a:ext cx="4118635" cy="0"/>
          </a:xfrm>
          <a:prstGeom prst="line">
            <a:avLst/>
          </a:prstGeom>
          <a:ln w="34925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5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 fontScale="70000"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“巡防百科”是面向基层巡防实战的内部知识入口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lang="en-US" altLang="zh-CN"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  </a:t>
            </a:r>
            <a:r>
              <a:rPr lang="zh-CN"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浏览器输入：</a:t>
            </a:r>
            <a:r>
              <a:rPr lang="en-US" altLang="zh-CN"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www.xunfangbk.cn  </a:t>
            </a:r>
            <a:r>
              <a:rPr lang="zh-CN" altLang="en-US"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账号：</a:t>
            </a:r>
            <a:r>
              <a:rPr lang="en-US" altLang="zh-CN"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xunfang </a:t>
            </a:r>
            <a:r>
              <a:rPr lang="zh-CN" altLang="en-US"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密码：</a:t>
            </a:r>
            <a:r>
              <a:rPr lang="en-US" altLang="zh-CN"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XFbk150225</a:t>
            </a:r>
            <a:endParaRPr lang="zh-CN" altLang="en-US"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endParaRPr lang="zh-CN" altLang="en-US"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02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571625"/>
            <a:ext cx="6172200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47" name="圆角矩形 46"/>
          <p:cNvSpPr>
            <a:spLocks noGrp="1"/>
          </p:cNvSpPr>
          <p:nvPr/>
        </p:nvSpPr>
        <p:spPr>
          <a:xfrm>
            <a:off x="781050" y="1571625"/>
            <a:ext cx="6667500" cy="3857625"/>
          </a:xfrm>
          <a:prstGeom prst="roundRect">
            <a:avLst>
              <a:gd name="adj" fmla="val 1975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876300" y="1257300"/>
            <a:ext cx="1066800" cy="285750"/>
          </a:xfrm>
          <a:prstGeom prst="roundRect">
            <a:avLst>
              <a:gd name="adj" fmla="val 26667"/>
            </a:avLst>
          </a:prstGeom>
          <a:solidFill>
            <a:srgbClr val="C7202F"/>
          </a:solidFill>
          <a:ln w="9525">
            <a:solidFill>
              <a:srgbClr val="C7202F"/>
            </a:solidFill>
            <a:prstDash val="solid"/>
          </a:ln>
        </p:spPr>
        <p:txBody>
          <a:bodyPr wrap="square" lIns="57150" tIns="38100" rIns="57150" bIns="38100" anchor="ctr">
            <a:normAutofit fontScale="84871"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真实页面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7858125" y="1914525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086725" y="1809750"/>
            <a:ext cx="3009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集中呈现规范要求、操作要点和培训素材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7858125" y="27146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086725" y="2609850"/>
            <a:ext cx="3009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按业务场景进入，按关键词快速定位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7858125" y="35147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086725" y="3409950"/>
            <a:ext cx="3009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服务日常学习、训练备课和业务回看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5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网站已形成可持续扩展的阶段性内容基础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03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00125" y="1762125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54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54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6</a:t>
            </a:r>
            <a:endParaRPr sz="54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00125" y="280987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大业务模块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4238625" y="1952625"/>
            <a:ext cx="0" cy="1809750"/>
          </a:xfrm>
          <a:prstGeom prst="line">
            <a:avLst/>
          </a:prstGeom>
          <a:noFill/>
          <a:ln w="19050">
            <a:solidFill>
              <a:srgbClr val="D8DEE7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572000" y="1762125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5400" b="1">
                <a:solidFill>
                  <a:srgbClr val="C7202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5400" b="1">
                <a:solidFill>
                  <a:srgbClr val="C7202F"/>
                </a:solidFill>
                <a:latin typeface="思源黑体 CN Heavy"/>
                <a:ea typeface="思源黑体 CN Heavy"/>
                <a:cs typeface="思源黑体 CN Heavy"/>
              </a:rPr>
              <a:t>87</a:t>
            </a:r>
            <a:endParaRPr sz="5400" b="1">
              <a:solidFill>
                <a:srgbClr val="C7202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572000" y="280987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条内容库存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7810500" y="1952625"/>
            <a:ext cx="0" cy="1809750"/>
          </a:xfrm>
          <a:prstGeom prst="line">
            <a:avLst/>
          </a:prstGeom>
          <a:noFill/>
          <a:ln w="19050">
            <a:solidFill>
              <a:srgbClr val="D8DEE7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143875" y="1762125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54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54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121</a:t>
            </a:r>
            <a:endParaRPr sz="54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143875" y="280987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个页面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1143000" y="4333875"/>
            <a:ext cx="9906000" cy="781050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9525">
            <a:solidFill>
              <a:srgbClr val="D8DEE7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500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00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统计截至2026年7月20日</a:t>
            </a:r>
            <a:endParaRPr sz="1500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3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浏览、搜索、多媒体与双端访问构成基本服务能力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04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38200" y="168656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950" b="1">
                <a:solidFill>
                  <a:srgbClr val="5F6B7A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950" b="1">
                <a:solidFill>
                  <a:srgbClr val="5F6B7A"/>
                </a:solidFill>
                <a:latin typeface="思源黑体 CN Heavy"/>
                <a:ea typeface="思源黑体 CN Heavy"/>
                <a:cs typeface="思源黑体 CN Heavy"/>
              </a:rPr>
              <a:t>两条查询路径 + 两种阅读场景 + 一套更新机制</a:t>
            </a:r>
            <a:endParaRPr sz="1950" b="1">
              <a:solidFill>
                <a:srgbClr val="5F6B7A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714375" y="3026410"/>
            <a:ext cx="10096500" cy="1666875"/>
            <a:chOff x="1125" y="3675"/>
            <a:chExt cx="15900" cy="2625"/>
          </a:xfrm>
        </p:grpSpPr>
        <p:sp>
          <p:nvSpPr>
            <p:cNvPr id="47" name="直接连接符 46"/>
            <p:cNvSpPr>
              <a:spLocks noGrp="1"/>
            </p:cNvSpPr>
            <p:nvPr>
              <p:custDataLst>
                <p:tags r:id="rId3"/>
              </p:custDataLst>
            </p:nvPr>
          </p:nvSpPr>
          <p:spPr>
            <a:xfrm>
              <a:off x="2250" y="4350"/>
              <a:ext cx="14250" cy="0"/>
            </a:xfrm>
            <a:prstGeom prst="line">
              <a:avLst/>
            </a:prstGeom>
            <a:noFill/>
            <a:ln w="19050">
              <a:solidFill>
                <a:srgbClr val="D8DEE7"/>
              </a:solidFill>
              <a:prstDash val="solid"/>
            </a:ln>
          </p:spPr>
        </p:sp>
        <p:sp>
          <p:nvSpPr>
            <p:cNvPr id="48" name="椭圆 47"/>
            <p:cNvSpPr>
              <a:spLocks noGrp="1"/>
            </p:cNvSpPr>
            <p:nvPr>
              <p:custDataLst>
                <p:tags r:id="rId4"/>
              </p:custDataLst>
            </p:nvPr>
          </p:nvSpPr>
          <p:spPr>
            <a:xfrm>
              <a:off x="1800" y="3675"/>
              <a:ext cx="1350" cy="1350"/>
            </a:xfrm>
            <a:prstGeom prst="ellipse">
              <a:avLst/>
            </a:prstGeom>
            <a:solidFill>
              <a:srgbClr val="1B3168"/>
            </a:solidFill>
            <a:ln w="9525">
              <a:solidFill>
                <a:srgbClr val="1B3168"/>
              </a:solidFill>
              <a:prstDash val="solid"/>
            </a:ln>
          </p:spPr>
        </p:sp>
        <p:sp>
          <p:nvSpPr>
            <p:cNvPr id="49" name="矩形 48"/>
            <p:cNvSpPr>
              <a:spLocks noGrp="1"/>
            </p:cNvSpPr>
            <p:nvPr>
              <p:custDataLst>
                <p:tags r:id="rId5"/>
              </p:custDataLst>
            </p:nvPr>
          </p:nvSpPr>
          <p:spPr>
            <a:xfrm>
              <a:off x="1800" y="3825"/>
              <a:ext cx="1350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ctr">
              <a:normAutofit/>
            </a:bodyPr>
            <a:lstStyle/>
            <a:p>
              <a:pPr algn="ctr">
                <a:def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rPr>
                <a:t>01</a:t>
              </a:r>
              <a:endParaRPr sz="19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50" name="矩形 49"/>
            <p:cNvSpPr>
              <a:spLocks noGrp="1"/>
            </p:cNvSpPr>
            <p:nvPr>
              <p:custDataLst>
                <p:tags r:id="rId6"/>
              </p:custDataLst>
            </p:nvPr>
          </p:nvSpPr>
          <p:spPr>
            <a:xfrm>
              <a:off x="1125" y="5250"/>
              <a:ext cx="2700" cy="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t">
              <a:normAutofit/>
            </a:bodyPr>
            <a:lstStyle/>
            <a:p>
              <a:pPr algn="ctr">
                <a:def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rPr>
                <a:t>分类浏览</a:t>
              </a:r>
              <a:endParaRPr sz="15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51" name="椭圆 50"/>
            <p:cNvSpPr>
              <a:spLocks noGrp="1"/>
            </p:cNvSpPr>
            <p:nvPr>
              <p:custDataLst>
                <p:tags r:id="rId7"/>
              </p:custDataLst>
            </p:nvPr>
          </p:nvSpPr>
          <p:spPr>
            <a:xfrm>
              <a:off x="5100" y="3675"/>
              <a:ext cx="1350" cy="1350"/>
            </a:xfrm>
            <a:prstGeom prst="ellipse">
              <a:avLst/>
            </a:prstGeom>
            <a:solidFill>
              <a:srgbClr val="C7202F"/>
            </a:solidFill>
            <a:ln w="9525">
              <a:solidFill>
                <a:srgbClr val="C7202F"/>
              </a:solidFill>
              <a:prstDash val="solid"/>
            </a:ln>
          </p:spPr>
        </p:sp>
        <p:sp>
          <p:nvSpPr>
            <p:cNvPr id="52" name="矩形 51"/>
            <p:cNvSpPr>
              <a:spLocks noGrp="1"/>
            </p:cNvSpPr>
            <p:nvPr>
              <p:custDataLst>
                <p:tags r:id="rId8"/>
              </p:custDataLst>
            </p:nvPr>
          </p:nvSpPr>
          <p:spPr>
            <a:xfrm>
              <a:off x="5100" y="3825"/>
              <a:ext cx="1350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ctr">
              <a:normAutofit/>
            </a:bodyPr>
            <a:lstStyle/>
            <a:p>
              <a:pPr algn="ctr">
                <a:def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rPr>
                <a:t>02</a:t>
              </a:r>
              <a:endParaRPr sz="19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53" name="矩形 52"/>
            <p:cNvSpPr>
              <a:spLocks noGrp="1"/>
            </p:cNvSpPr>
            <p:nvPr>
              <p:custDataLst>
                <p:tags r:id="rId9"/>
              </p:custDataLst>
            </p:nvPr>
          </p:nvSpPr>
          <p:spPr>
            <a:xfrm>
              <a:off x="4425" y="5250"/>
              <a:ext cx="2700" cy="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t">
              <a:normAutofit/>
            </a:bodyPr>
            <a:lstStyle/>
            <a:p>
              <a:pPr algn="ctr">
                <a:def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rPr>
                <a:t>站内搜索</a:t>
              </a:r>
              <a:endParaRPr sz="15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54" name="椭圆 53"/>
            <p:cNvSpPr>
              <a:spLocks noGrp="1"/>
            </p:cNvSpPr>
            <p:nvPr>
              <p:custDataLst>
                <p:tags r:id="rId10"/>
              </p:custDataLst>
            </p:nvPr>
          </p:nvSpPr>
          <p:spPr>
            <a:xfrm>
              <a:off x="8400" y="3675"/>
              <a:ext cx="1350" cy="1350"/>
            </a:xfrm>
            <a:prstGeom prst="ellipse">
              <a:avLst/>
            </a:prstGeom>
            <a:solidFill>
              <a:srgbClr val="1B3168"/>
            </a:solidFill>
            <a:ln w="9525">
              <a:solidFill>
                <a:srgbClr val="1B3168"/>
              </a:solidFill>
              <a:prstDash val="solid"/>
            </a:ln>
          </p:spPr>
        </p:sp>
        <p:sp>
          <p:nvSpPr>
            <p:cNvPr id="55" name="矩形 54"/>
            <p:cNvSpPr>
              <a:spLocks noGrp="1"/>
            </p:cNvSpPr>
            <p:nvPr>
              <p:custDataLst>
                <p:tags r:id="rId11"/>
              </p:custDataLst>
            </p:nvPr>
          </p:nvSpPr>
          <p:spPr>
            <a:xfrm>
              <a:off x="8400" y="3825"/>
              <a:ext cx="1350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ctr">
              <a:normAutofit/>
            </a:bodyPr>
            <a:lstStyle/>
            <a:p>
              <a:pPr algn="ctr">
                <a:def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rPr>
                <a:t>03</a:t>
              </a:r>
              <a:endParaRPr sz="19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56" name="矩形 55"/>
            <p:cNvSpPr>
              <a:spLocks noGrp="1"/>
            </p:cNvSpPr>
            <p:nvPr>
              <p:custDataLst>
                <p:tags r:id="rId12"/>
              </p:custDataLst>
            </p:nvPr>
          </p:nvSpPr>
          <p:spPr>
            <a:xfrm>
              <a:off x="7725" y="5250"/>
              <a:ext cx="2700" cy="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t">
              <a:normAutofit/>
            </a:bodyPr>
            <a:lstStyle/>
            <a:p>
              <a:pPr algn="ctr">
                <a:def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rPr>
                <a:t>图文视频辅助</a:t>
              </a:r>
              <a:endParaRPr sz="15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57" name="椭圆 56"/>
            <p:cNvSpPr>
              <a:spLocks noGrp="1"/>
            </p:cNvSpPr>
            <p:nvPr>
              <p:custDataLst>
                <p:tags r:id="rId13"/>
              </p:custDataLst>
            </p:nvPr>
          </p:nvSpPr>
          <p:spPr>
            <a:xfrm>
              <a:off x="11700" y="3675"/>
              <a:ext cx="1350" cy="1350"/>
            </a:xfrm>
            <a:prstGeom prst="ellipse">
              <a:avLst/>
            </a:prstGeom>
            <a:solidFill>
              <a:srgbClr val="1B3168"/>
            </a:solidFill>
            <a:ln w="9525">
              <a:solidFill>
                <a:srgbClr val="1B3168"/>
              </a:solidFill>
              <a:prstDash val="solid"/>
            </a:ln>
          </p:spPr>
        </p:sp>
        <p:sp>
          <p:nvSpPr>
            <p:cNvPr id="58" name="矩形 57"/>
            <p:cNvSpPr>
              <a:spLocks noGrp="1"/>
            </p:cNvSpPr>
            <p:nvPr>
              <p:custDataLst>
                <p:tags r:id="rId14"/>
              </p:custDataLst>
            </p:nvPr>
          </p:nvSpPr>
          <p:spPr>
            <a:xfrm>
              <a:off x="11700" y="3825"/>
              <a:ext cx="1350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ctr">
              <a:normAutofit/>
            </a:bodyPr>
            <a:lstStyle/>
            <a:p>
              <a:pPr algn="ctr">
                <a:def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rPr>
                <a:t>04</a:t>
              </a:r>
              <a:endParaRPr sz="19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59" name="矩形 58"/>
            <p:cNvSpPr>
              <a:spLocks noGrp="1"/>
            </p:cNvSpPr>
            <p:nvPr>
              <p:custDataLst>
                <p:tags r:id="rId15"/>
              </p:custDataLst>
            </p:nvPr>
          </p:nvSpPr>
          <p:spPr>
            <a:xfrm>
              <a:off x="11025" y="5250"/>
              <a:ext cx="2700" cy="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t">
              <a:normAutofit/>
            </a:bodyPr>
            <a:lstStyle/>
            <a:p>
              <a:pPr algn="ctr">
                <a:def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rPr>
                <a:t>电脑手机双端</a:t>
              </a:r>
              <a:endParaRPr sz="15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60" name="椭圆 59"/>
            <p:cNvSpPr>
              <a:spLocks noGrp="1"/>
            </p:cNvSpPr>
            <p:nvPr>
              <p:custDataLst>
                <p:tags r:id="rId16"/>
              </p:custDataLst>
            </p:nvPr>
          </p:nvSpPr>
          <p:spPr>
            <a:xfrm>
              <a:off x="15000" y="3675"/>
              <a:ext cx="1350" cy="1350"/>
            </a:xfrm>
            <a:prstGeom prst="ellipse">
              <a:avLst/>
            </a:prstGeom>
            <a:solidFill>
              <a:srgbClr val="1B3168"/>
            </a:solidFill>
            <a:ln w="9525">
              <a:solidFill>
                <a:srgbClr val="1B3168"/>
              </a:solidFill>
              <a:prstDash val="solid"/>
            </a:ln>
          </p:spPr>
        </p:sp>
        <p:sp>
          <p:nvSpPr>
            <p:cNvPr id="61" name="矩形 60"/>
            <p:cNvSpPr>
              <a:spLocks noGrp="1"/>
            </p:cNvSpPr>
            <p:nvPr>
              <p:custDataLst>
                <p:tags r:id="rId17"/>
              </p:custDataLst>
            </p:nvPr>
          </p:nvSpPr>
          <p:spPr>
            <a:xfrm>
              <a:off x="15000" y="3825"/>
              <a:ext cx="1350" cy="6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ctr">
              <a:normAutofit/>
            </a:bodyPr>
            <a:lstStyle/>
            <a:p>
              <a:pPr algn="ctr">
                <a:def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950" b="1">
                  <a:solidFill>
                    <a:srgbClr val="FFFFFF"/>
                  </a:solidFill>
                  <a:latin typeface="思源黑体 CN Heavy"/>
                  <a:ea typeface="思源黑体 CN Heavy"/>
                  <a:cs typeface="思源黑体 CN Heavy"/>
                </a:rPr>
                <a:t>05</a:t>
              </a:r>
              <a:endParaRPr sz="19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  <p:sp>
          <p:nvSpPr>
            <p:cNvPr id="62" name="矩形 61"/>
            <p:cNvSpPr>
              <a:spLocks noGrp="1"/>
            </p:cNvSpPr>
            <p:nvPr>
              <p:custDataLst>
                <p:tags r:id="rId18"/>
              </p:custDataLst>
            </p:nvPr>
          </p:nvSpPr>
          <p:spPr>
            <a:xfrm>
              <a:off x="14325" y="5250"/>
              <a:ext cx="2700" cy="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57150" tIns="38100" rIns="57150" bIns="38100" anchor="t">
              <a:normAutofit/>
            </a:bodyPr>
            <a:lstStyle/>
            <a:p>
              <a:pPr algn="ctr">
                <a:def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defRPr>
              </a:pPr>
              <a:r>
                <a:rPr sz="1500" b="1">
                  <a:solidFill>
                    <a:srgbClr val="232A34"/>
                  </a:solidFill>
                  <a:latin typeface="思源黑体 CN Heavy"/>
                  <a:ea typeface="思源黑体 CN Heavy"/>
                  <a:cs typeface="思源黑体 CN Heavy"/>
                </a:rPr>
                <a:t>持续更新</a:t>
              </a:r>
              <a:endParaRPr sz="15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分散资料需要转化为统一、连续的学习参考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05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04875" y="1666875"/>
            <a:ext cx="447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资料来源多、载体不一</a:t>
            </a:r>
            <a:endParaRPr sz="2175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904875" y="2962275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33475" y="285750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反复查找耗费时间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904875" y="36290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133475" y="352425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个人积累难以转化为集体共享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75" y="1571625"/>
            <a:ext cx="6771005" cy="2952115"/>
          </a:xfrm>
          <a:prstGeom prst="rect">
            <a:avLst/>
          </a:prstGeom>
        </p:spPr>
      </p:pic>
      <p:sp>
        <p:nvSpPr>
          <p:cNvPr id="3" name="椭圆 2"/>
          <p:cNvSpPr>
            <a:spLocks noGrp="1"/>
          </p:cNvSpPr>
          <p:nvPr/>
        </p:nvSpPr>
        <p:spPr>
          <a:xfrm>
            <a:off x="904875" y="429577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33475" y="419100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lang="zh-CN" altLang="en-US"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练兵复习缺少相对连续的路径</a:t>
            </a:r>
            <a:endParaRPr lang="zh-CN" altLang="en-US"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220627" y="693191"/>
            <a:ext cx="2398413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4400" dirty="0">
                <a:solidFill>
                  <a:schemeClr val="bg1">
                    <a:alpha val="15000"/>
                  </a:schemeClr>
                </a:solidFill>
                <a:latin typeface="Impact" panose="020B0806030902050204" pitchFamily="34" charset="0"/>
              </a:rPr>
              <a:t>2</a:t>
            </a:r>
            <a:endParaRPr kumimoji="1" lang="ja-JP" altLang="en-US" sz="34400" dirty="0">
              <a:solidFill>
                <a:schemeClr val="bg1">
                  <a:alpha val="1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6" name="图片 5" descr="图片包含 游戏机, 照片, 桌子, 蛋糕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964" y="2176796"/>
            <a:ext cx="2989876" cy="30049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415694" y="3950899"/>
            <a:ext cx="4008278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Microsoft YaHei" panose="020B0503020204020204" charset="-122"/>
              </a:rPr>
              <a:t>服务定位、建设闭环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Microsoft YaHei" panose="020B0503020204020204" charset="-122"/>
            </a:endParaRPr>
          </a:p>
        </p:txBody>
      </p:sp>
      <p:sp>
        <p:nvSpPr>
          <p:cNvPr id="23" name="标题 4"/>
          <p:cNvSpPr txBox="1"/>
          <p:nvPr/>
        </p:nvSpPr>
        <p:spPr>
          <a:xfrm>
            <a:off x="5439199" y="2959737"/>
            <a:ext cx="3961268" cy="4264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建设</a:t>
            </a:r>
            <a:r>
              <a:rPr lang="zh-CN" altLang="en-US" sz="4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定位</a:t>
            </a:r>
            <a:endParaRPr lang="zh-CN" altLang="en-US" sz="40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360516" y="3679246"/>
            <a:ext cx="4118635" cy="0"/>
          </a:xfrm>
          <a:prstGeom prst="line">
            <a:avLst/>
          </a:prstGeom>
          <a:ln w="34925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面向新警，先帮助建立巡防业务的基本框架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06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858000" y="1666875"/>
            <a:ext cx="447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模块化认识业务领域</a:t>
            </a:r>
            <a:endParaRPr sz="2175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6858000" y="2962275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086600" y="285750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条目化掌握基本要点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6858000" y="36290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086600" y="352425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缩短入门和转岗适应过程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858000" y="2571750"/>
            <a:ext cx="55245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510665"/>
            <a:ext cx="1765300" cy="38366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235" y="1510665"/>
            <a:ext cx="1764030" cy="3835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面向骨干，支持规范回看、训练备课和复盘送教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07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rcRect t="24000" b="24000"/>
          <a:stretch>
            <a:fillRect/>
          </a:stretch>
        </p:blipFill>
        <p:spPr>
          <a:xfrm>
            <a:off x="6477000" y="1571625"/>
            <a:ext cx="4762500" cy="1857375"/>
          </a:xfrm>
          <a:prstGeom prst="roundRect">
            <a:avLst>
              <a:gd name="adj" fmla="val 6154"/>
            </a:avLst>
          </a:prstGeom>
        </p:spPr>
      </p:pic>
      <p:sp>
        <p:nvSpPr>
          <p:cNvPr id="47" name="圆角矩形 46"/>
          <p:cNvSpPr>
            <a:spLocks noGrp="1"/>
          </p:cNvSpPr>
          <p:nvPr/>
        </p:nvSpPr>
        <p:spPr>
          <a:xfrm>
            <a:off x="6477000" y="1571625"/>
            <a:ext cx="4762500" cy="1857375"/>
          </a:xfrm>
          <a:prstGeom prst="roundRect">
            <a:avLst>
              <a:gd name="adj" fmla="val 4103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610" y="3524250"/>
            <a:ext cx="3850640" cy="2406650"/>
          </a:xfrm>
          <a:prstGeom prst="roundRect">
            <a:avLst>
              <a:gd name="adj" fmla="val 6154"/>
            </a:avLst>
          </a:prstGeom>
        </p:spPr>
      </p:pic>
      <p:sp>
        <p:nvSpPr>
          <p:cNvPr id="50" name="矩形 49"/>
          <p:cNvSpPr>
            <a:spLocks noGrp="1"/>
          </p:cNvSpPr>
          <p:nvPr/>
        </p:nvSpPr>
        <p:spPr>
          <a:xfrm>
            <a:off x="904875" y="1666875"/>
            <a:ext cx="447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日常巡逻前快速回看</a:t>
            </a:r>
            <a:endParaRPr sz="2175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904875" y="2962275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133475" y="285750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组织训练时查找材料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904875" y="36290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133475" y="352425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警情复盘和走访送教时提供参考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04875" y="2571750"/>
            <a:ext cx="55245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知识归集：先把分散材料纳入统一知识库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08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933575" y="2857500"/>
            <a:ext cx="822960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6097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6097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制度规范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36671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6671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0384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培训课件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57245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7245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0958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图像视频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77819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7819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1532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经验材料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9839325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8393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05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2106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统一记录来源、主题和更新信息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770" y="3597910"/>
            <a:ext cx="6118860" cy="2748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分类整理：围绕主题、场景和核心要点重新组织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09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2190750" y="2857500"/>
            <a:ext cx="771525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86690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86690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识别业务主题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443865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43865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55282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明确适用场景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701040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1040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12457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提炼核心要点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9582150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58215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69632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纳入统一栏目结构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325" y="3390900"/>
            <a:ext cx="4864100" cy="3040380"/>
          </a:xfrm>
          <a:prstGeom prst="roundRect">
            <a:avLst>
              <a:gd name="adj" fmla="val 10435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网站发布：把长材料转化为结构清楚的图文页面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10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2190750" y="2857500"/>
            <a:ext cx="771525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86690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86690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结构化内容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443865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43865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55282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静态页面生成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701040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1040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12457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站内索引同步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9582150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58215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69632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稳定、易读、可检索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05" y="3479800"/>
            <a:ext cx="4752340" cy="2970530"/>
          </a:xfrm>
          <a:prstGeom prst="roundRect">
            <a:avLst>
              <a:gd name="adj" fmla="val 10435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持续更新：在试用反馈和制度变化中反复校准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11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933575" y="2857500"/>
            <a:ext cx="822960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6097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6097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收集问题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36671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6671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0384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核对依据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57245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7245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0958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调整内容与体验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77819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7819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1532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再次检查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9839325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8393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05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2106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记录更新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35" y="3429000"/>
            <a:ext cx="4965065" cy="27324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158110" y="693191"/>
            <a:ext cx="2523448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4400" dirty="0">
                <a:solidFill>
                  <a:schemeClr val="bg1">
                    <a:alpha val="15000"/>
                  </a:schemeClr>
                </a:solidFill>
                <a:latin typeface="Impact" panose="020B0806030902050204" pitchFamily="34" charset="0"/>
              </a:rPr>
              <a:t>3</a:t>
            </a:r>
            <a:endParaRPr kumimoji="1" lang="ja-JP" altLang="en-US" sz="34400" dirty="0">
              <a:solidFill>
                <a:schemeClr val="bg1">
                  <a:alpha val="1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6" name="图片 5" descr="图片包含 游戏机, 照片, 桌子, 蛋糕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964" y="2176796"/>
            <a:ext cx="2989876" cy="30049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415694" y="3950899"/>
            <a:ext cx="4008278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Microsoft YaHei" panose="020B0503020204020204" charset="-122"/>
              </a:rPr>
              <a:t>手册架构、查询使用、</a:t>
            </a: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Microsoft YaHei" panose="020B0503020204020204" charset="-122"/>
              </a:rPr>
              <a:t>应用场景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Microsoft YaHei" panose="020B0503020204020204" charset="-122"/>
            </a:endParaRPr>
          </a:p>
        </p:txBody>
      </p:sp>
      <p:sp>
        <p:nvSpPr>
          <p:cNvPr id="23" name="标题 4"/>
          <p:cNvSpPr txBox="1"/>
          <p:nvPr/>
        </p:nvSpPr>
        <p:spPr>
          <a:xfrm>
            <a:off x="5439199" y="2959737"/>
            <a:ext cx="3961268" cy="4264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内容</a:t>
            </a:r>
            <a:r>
              <a:rPr lang="zh-CN" altLang="en-US" sz="4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应用</a:t>
            </a:r>
            <a:endParaRPr lang="zh-CN" altLang="en-US" sz="40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360516" y="3679246"/>
            <a:ext cx="4118635" cy="0"/>
          </a:xfrm>
          <a:prstGeom prst="line">
            <a:avLst/>
          </a:prstGeom>
          <a:ln w="34925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六大业务模块与三级内容架构共同支撑持续扩展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12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1047750" y="1666875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E8EEF7"/>
          </a:solidFill>
          <a:ln w="14288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装备介绍</a:t>
            </a:r>
            <a:endParaRPr sz="18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4476750" y="1666875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E8EEF7"/>
          </a:solidFill>
          <a:ln w="14288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巡防勤务</a:t>
            </a:r>
            <a:endParaRPr sz="18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7905750" y="1666875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E8EEF7"/>
          </a:solidFill>
          <a:ln w="14288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警务训练</a:t>
            </a:r>
            <a:endParaRPr sz="18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1047750" y="2809875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14288">
            <a:solidFill>
              <a:srgbClr val="D8DEE7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警情处置</a:t>
            </a:r>
            <a:endParaRPr sz="180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4476750" y="2809875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14288">
            <a:solidFill>
              <a:srgbClr val="D8DEE7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法条规范</a:t>
            </a:r>
            <a:endParaRPr sz="180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7905750" y="2809875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14288">
            <a:solidFill>
              <a:srgbClr val="D8DEE7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走访送教</a:t>
            </a:r>
            <a:endParaRPr sz="180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1809750" y="4429125"/>
            <a:ext cx="8572500" cy="838200"/>
          </a:xfrm>
          <a:prstGeom prst="roundRect">
            <a:avLst>
              <a:gd name="adj" fmla="val 9091"/>
            </a:avLst>
          </a:prstGeom>
          <a:solidFill>
            <a:srgbClr val="1B3168"/>
          </a:solidFill>
          <a:ln w="9525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02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业务模块—专题分类—具体页面</a:t>
            </a:r>
            <a:endParaRPr sz="202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装备介绍与巡防勤务服务任务准备和规范使用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13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1619250"/>
            <a:ext cx="48006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47" name="圆角矩形 46"/>
          <p:cNvSpPr>
            <a:spLocks noGrp="1"/>
          </p:cNvSpPr>
          <p:nvPr/>
        </p:nvSpPr>
        <p:spPr>
          <a:xfrm>
            <a:off x="781050" y="1619250"/>
            <a:ext cx="5000625" cy="3000375"/>
          </a:xfrm>
          <a:prstGeom prst="roundRect">
            <a:avLst>
              <a:gd name="adj" fmla="val 2540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952500" y="1428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B3168"/>
          </a:solidFill>
          <a:ln w="9525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装备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52500" y="4857750"/>
            <a:ext cx="466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功能、佩戴、操作要点</a:t>
            </a:r>
            <a:endParaRPr sz="15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3" y="1619250"/>
            <a:ext cx="48006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51" name="圆角矩形 50"/>
          <p:cNvSpPr>
            <a:spLocks noGrp="1"/>
          </p:cNvSpPr>
          <p:nvPr/>
        </p:nvSpPr>
        <p:spPr>
          <a:xfrm>
            <a:off x="6210300" y="1619250"/>
            <a:ext cx="5000625" cy="3000375"/>
          </a:xfrm>
          <a:prstGeom prst="roundRect">
            <a:avLst>
              <a:gd name="adj" fmla="val 2540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6381750" y="1428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C7202F"/>
          </a:solidFill>
          <a:ln w="9525">
            <a:solidFill>
              <a:srgbClr val="C7202F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勤务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381750" y="4857750"/>
            <a:ext cx="466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组织要求、任务准备、工作提示</a:t>
            </a:r>
            <a:endParaRPr sz="15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警务训练与警情处置连接岗位练兵和现场任务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14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1619250"/>
            <a:ext cx="48006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47" name="圆角矩形 46"/>
          <p:cNvSpPr>
            <a:spLocks noGrp="1"/>
          </p:cNvSpPr>
          <p:nvPr/>
        </p:nvSpPr>
        <p:spPr>
          <a:xfrm>
            <a:off x="781050" y="1619250"/>
            <a:ext cx="5000625" cy="3000375"/>
          </a:xfrm>
          <a:prstGeom prst="roundRect">
            <a:avLst>
              <a:gd name="adj" fmla="val 2540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952500" y="1428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B3168"/>
          </a:solidFill>
          <a:ln w="9525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训练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52500" y="4857750"/>
            <a:ext cx="466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动作要领、训练材料、图像视频</a:t>
            </a:r>
            <a:endParaRPr sz="15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3" y="1619250"/>
            <a:ext cx="48006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51" name="圆角矩形 50"/>
          <p:cNvSpPr>
            <a:spLocks noGrp="1"/>
          </p:cNvSpPr>
          <p:nvPr/>
        </p:nvSpPr>
        <p:spPr>
          <a:xfrm>
            <a:off x="6210300" y="1619250"/>
            <a:ext cx="5000625" cy="3000375"/>
          </a:xfrm>
          <a:prstGeom prst="roundRect">
            <a:avLst>
              <a:gd name="adj" fmla="val 2540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6381750" y="1428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C7202F"/>
          </a:solidFill>
          <a:ln w="9525">
            <a:solidFill>
              <a:srgbClr val="C7202F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警情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381750" y="4857750"/>
            <a:ext cx="466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常见类型、处置提示、复盘参考</a:t>
            </a:r>
            <a:endParaRPr sz="15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法条规范与走访送教强化依据意识和教学支撑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15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1619250"/>
            <a:ext cx="48006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47" name="圆角矩形 46"/>
          <p:cNvSpPr>
            <a:spLocks noGrp="1"/>
          </p:cNvSpPr>
          <p:nvPr/>
        </p:nvSpPr>
        <p:spPr>
          <a:xfrm>
            <a:off x="781050" y="1619250"/>
            <a:ext cx="5000625" cy="3000375"/>
          </a:xfrm>
          <a:prstGeom prst="roundRect">
            <a:avLst>
              <a:gd name="adj" fmla="val 2540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952500" y="1428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B3168"/>
          </a:solidFill>
          <a:ln w="9525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法条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52500" y="4857750"/>
            <a:ext cx="466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公开法规、规范提示、来源核验</a:t>
            </a:r>
            <a:endParaRPr sz="15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3" y="1619250"/>
            <a:ext cx="48006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51" name="圆角矩形 50"/>
          <p:cNvSpPr>
            <a:spLocks noGrp="1"/>
          </p:cNvSpPr>
          <p:nvPr/>
        </p:nvSpPr>
        <p:spPr>
          <a:xfrm>
            <a:off x="6210300" y="1619250"/>
            <a:ext cx="5000625" cy="3000375"/>
          </a:xfrm>
          <a:prstGeom prst="roundRect">
            <a:avLst>
              <a:gd name="adj" fmla="val 2540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6381750" y="14287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C7202F"/>
          </a:solidFill>
          <a:ln w="9525">
            <a:solidFill>
              <a:srgbClr val="C7202F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送教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381750" y="4857750"/>
            <a:ext cx="466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课程材料、经验做法、学习参考</a:t>
            </a:r>
            <a:endParaRPr sz="15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5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三级结构让使用者先定位领域，再进入专题和知识点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16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2238375" y="2952750"/>
            <a:ext cx="762000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圆角矩形 46"/>
          <p:cNvSpPr>
            <a:spLocks noGrp="1"/>
          </p:cNvSpPr>
          <p:nvPr/>
        </p:nvSpPr>
        <p:spPr>
          <a:xfrm>
            <a:off x="1285875" y="2190750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一级：业务模块</a:t>
            </a:r>
            <a:endParaRPr sz="1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5000625" y="2190750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二级：专题分类</a:t>
            </a:r>
            <a:endParaRPr sz="1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715375" y="2190750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三级：具体页面</a:t>
            </a:r>
            <a:endParaRPr sz="1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4102100"/>
            <a:ext cx="3251200" cy="2032000"/>
          </a:xfrm>
          <a:prstGeom prst="roundRect">
            <a:avLst>
              <a:gd name="adj" fmla="val 13333"/>
            </a:avLst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590" y="4102100"/>
            <a:ext cx="3251835" cy="2032635"/>
          </a:xfrm>
          <a:prstGeom prst="roundRect">
            <a:avLst>
              <a:gd name="adj" fmla="val 13333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一条真实浏览路径即可从首页抵达具体业务要点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17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2190750" y="2857500"/>
            <a:ext cx="771525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86690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86690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首页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443865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43865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55282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警情处置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7010400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1040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12457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专题目录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9582150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582150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696325" y="1714500"/>
            <a:ext cx="2419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具体页面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575" y="3554095"/>
            <a:ext cx="4299585" cy="2687320"/>
          </a:xfrm>
          <a:prstGeom prst="roundRect">
            <a:avLst>
              <a:gd name="adj" fmla="val 10435"/>
            </a:avLst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8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分类浏览、站内搜索和多媒体呈现覆盖不同查询习惯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18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614785"/>
            <a:ext cx="5095875" cy="2866430"/>
          </a:xfrm>
          <a:prstGeom prst="roundRect">
            <a:avLst>
              <a:gd name="adj" fmla="val 3871"/>
            </a:avLst>
          </a:prstGeom>
        </p:spPr>
      </p:pic>
      <p:sp>
        <p:nvSpPr>
          <p:cNvPr id="47" name="圆角矩形 46"/>
          <p:cNvSpPr>
            <a:spLocks noGrp="1"/>
          </p:cNvSpPr>
          <p:nvPr/>
        </p:nvSpPr>
        <p:spPr>
          <a:xfrm>
            <a:off x="781050" y="1571625"/>
            <a:ext cx="5095875" cy="2952750"/>
          </a:xfrm>
          <a:prstGeom prst="roundRect">
            <a:avLst>
              <a:gd name="adj" fmla="val 2581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5" y="1614785"/>
            <a:ext cx="5095875" cy="2866430"/>
          </a:xfrm>
          <a:prstGeom prst="roundRect">
            <a:avLst>
              <a:gd name="adj" fmla="val 3871"/>
            </a:avLst>
          </a:prstGeom>
        </p:spPr>
      </p:pic>
      <p:sp>
        <p:nvSpPr>
          <p:cNvPr id="49" name="圆角矩形 48"/>
          <p:cNvSpPr>
            <a:spLocks noGrp="1"/>
          </p:cNvSpPr>
          <p:nvPr/>
        </p:nvSpPr>
        <p:spPr>
          <a:xfrm>
            <a:off x="6143625" y="1571625"/>
            <a:ext cx="5095875" cy="2952750"/>
          </a:xfrm>
          <a:prstGeom prst="roundRect">
            <a:avLst>
              <a:gd name="adj" fmla="val 2581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895350" y="1381125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C7202F"/>
          </a:solidFill>
          <a:ln w="9525">
            <a:solidFill>
              <a:srgbClr val="C7202F"/>
            </a:solidFill>
            <a:prstDash val="solid"/>
          </a:ln>
        </p:spPr>
        <p:txBody>
          <a:bodyPr wrap="square" lIns="57150" tIns="38100" rIns="57150" bIns="38100" anchor="ctr">
            <a:normAutofit fontScale="84871"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分类与搜索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257925" y="1381125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1B3168"/>
          </a:solidFill>
          <a:ln w="9525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 fontScale="84871"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图文与视频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椭圆 51"/>
          <p:cNvSpPr>
            <a:spLocks noGrp="1"/>
          </p:cNvSpPr>
          <p:nvPr/>
        </p:nvSpPr>
        <p:spPr>
          <a:xfrm>
            <a:off x="1143000" y="4914900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371600" y="4810125"/>
            <a:ext cx="967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目标明确时按模块逐级浏览</a:t>
            </a:r>
            <a:endParaRPr sz="1575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4" name="椭圆 53"/>
          <p:cNvSpPr>
            <a:spLocks noGrp="1"/>
          </p:cNvSpPr>
          <p:nvPr/>
        </p:nvSpPr>
        <p:spPr>
          <a:xfrm>
            <a:off x="1143000" y="5334000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1371600" y="5229225"/>
            <a:ext cx="967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归属不明时用关键词搜索</a:t>
            </a:r>
            <a:endParaRPr sz="1575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1143000" y="5753100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371600" y="5648325"/>
            <a:ext cx="967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图片和视频帮助理解操作要点</a:t>
            </a:r>
            <a:endParaRPr sz="1575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同一内容兼顾电脑端完整阅读与手机端移动查看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19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71625"/>
            <a:ext cx="6096000" cy="3810000"/>
          </a:xfrm>
          <a:prstGeom prst="roundRect">
            <a:avLst>
              <a:gd name="adj" fmla="val 3000"/>
            </a:avLst>
          </a:prstGeom>
        </p:spPr>
      </p:pic>
      <p:sp>
        <p:nvSpPr>
          <p:cNvPr id="50" name="圆角矩形 49"/>
          <p:cNvSpPr>
            <a:spLocks noGrp="1"/>
          </p:cNvSpPr>
          <p:nvPr/>
        </p:nvSpPr>
        <p:spPr>
          <a:xfrm>
            <a:off x="971550" y="125730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1B3168"/>
          </a:solidFill>
          <a:ln w="9525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 fontScale="84871"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电脑端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8524875" y="125730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C7202F"/>
          </a:solidFill>
          <a:ln w="9525">
            <a:solidFill>
              <a:srgbClr val="C7202F"/>
            </a:solidFill>
            <a:prstDash val="solid"/>
          </a:ln>
        </p:spPr>
        <p:txBody>
          <a:bodyPr wrap="square" lIns="57150" tIns="38100" rIns="57150" bIns="38100" anchor="ctr">
            <a:normAutofit fontScale="84871"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手机端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143000" y="5476875"/>
            <a:ext cx="952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350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350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电脑端：办公学习、完整浏览　｜　手机端：移动阅读、快速回看　｜　持续优化字号、图片、视频、目录和搜索</a:t>
            </a:r>
            <a:endParaRPr sz="1350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185" y="1571625"/>
            <a:ext cx="17526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5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阶段性成果既包括内容规模，也包括稳定可用的基础质量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20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00125" y="1762125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54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54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87</a:t>
            </a:r>
            <a:endParaRPr sz="54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00125" y="280987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条内容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4238625" y="1952625"/>
            <a:ext cx="0" cy="1809750"/>
          </a:xfrm>
          <a:prstGeom prst="line">
            <a:avLst/>
          </a:prstGeom>
          <a:noFill/>
          <a:ln w="19050">
            <a:solidFill>
              <a:srgbClr val="D8DEE7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572000" y="1762125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5400" b="1">
                <a:solidFill>
                  <a:srgbClr val="C7202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5400" b="1">
                <a:solidFill>
                  <a:srgbClr val="C7202F"/>
                </a:solidFill>
                <a:latin typeface="思源黑体 CN Heavy"/>
                <a:ea typeface="思源黑体 CN Heavy"/>
                <a:cs typeface="思源黑体 CN Heavy"/>
              </a:rPr>
              <a:t>121</a:t>
            </a:r>
            <a:endParaRPr sz="5400" b="1">
              <a:solidFill>
                <a:srgbClr val="C7202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572000" y="280987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个页面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7810500" y="1952625"/>
            <a:ext cx="0" cy="1809750"/>
          </a:xfrm>
          <a:prstGeom prst="line">
            <a:avLst/>
          </a:prstGeom>
          <a:noFill/>
          <a:ln w="19050">
            <a:solidFill>
              <a:srgbClr val="D8DEE7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143875" y="1762125"/>
            <a:ext cx="2762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85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5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多项质量检查</a:t>
            </a:r>
            <a:endParaRPr sz="285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143875" y="280987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链接、索引、资源与双端</a:t>
            </a:r>
            <a:endParaRPr sz="1650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1143000" y="4333875"/>
            <a:ext cx="9906000" cy="781050"/>
          </a:xfrm>
          <a:prstGeom prst="roundRect">
            <a:avLst>
              <a:gd name="adj" fmla="val 9756"/>
            </a:avLst>
          </a:prstGeom>
          <a:solidFill>
            <a:srgbClr val="F3F6F9"/>
          </a:solidFill>
          <a:ln w="9525">
            <a:solidFill>
              <a:srgbClr val="D8DEE7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500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00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链接检查　｜　站内索引检查　｜　资源引用检查　｜　多终端显示检查</a:t>
            </a:r>
            <a:endParaRPr sz="1500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9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每一项建设工作都对应基层使用中的具体问题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21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933575" y="2857500"/>
            <a:ext cx="822960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6097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6097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内容框架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81075" y="352425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减少资料混杂</a:t>
            </a:r>
            <a:endParaRPr sz="12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36671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6671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0384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查询能力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3038475" y="352425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缩短反复查找</a:t>
            </a:r>
            <a:endParaRPr sz="12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>
            <a:off x="57245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7245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0958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适配验收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095875" y="352425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支持常用终端</a:t>
            </a:r>
            <a:endParaRPr sz="12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77819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7819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1532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安全治理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153275" y="352425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明确使用边界</a:t>
            </a:r>
            <a:endParaRPr sz="12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63" name="椭圆 62"/>
          <p:cNvSpPr>
            <a:spLocks noGrp="1"/>
          </p:cNvSpPr>
          <p:nvPr/>
        </p:nvSpPr>
        <p:spPr>
          <a:xfrm>
            <a:off x="9839325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8393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05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92106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试用反馈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9210675" y="352425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275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形成优化闭环</a:t>
            </a:r>
            <a:endParaRPr sz="1275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110" y="3906520"/>
            <a:ext cx="5002530" cy="27533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225436" y="693191"/>
            <a:ext cx="2388795" cy="5386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4400" dirty="0">
                <a:solidFill>
                  <a:schemeClr val="bg1">
                    <a:alpha val="15000"/>
                  </a:schemeClr>
                </a:solidFill>
                <a:latin typeface="Impact" panose="020B0806030902050204" pitchFamily="34" charset="0"/>
              </a:rPr>
              <a:t>4</a:t>
            </a:r>
            <a:endParaRPr kumimoji="1" lang="ja-JP" altLang="en-US" sz="34400" dirty="0">
              <a:solidFill>
                <a:schemeClr val="bg1">
                  <a:alpha val="1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6" name="图片 5" descr="图片包含 游戏机, 照片, 桌子, 蛋糕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964" y="2176796"/>
            <a:ext cx="2989876" cy="30049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415694" y="3950899"/>
            <a:ext cx="4008278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Microsoft YaHei" panose="020B0503020204020204" charset="-122"/>
              </a:rPr>
              <a:t>现场演示、安全保密、下步</a:t>
            </a: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Microsoft YaHei" panose="020B0503020204020204" charset="-122"/>
              </a:rPr>
              <a:t>计划</a:t>
            </a:r>
            <a:endParaRPr lang="zh-CN" altLang="en-US" sz="20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Microsoft YaHei" panose="020B0503020204020204" charset="-122"/>
            </a:endParaRPr>
          </a:p>
        </p:txBody>
      </p:sp>
      <p:sp>
        <p:nvSpPr>
          <p:cNvPr id="23" name="标题 4"/>
          <p:cNvSpPr txBox="1"/>
          <p:nvPr/>
        </p:nvSpPr>
        <p:spPr>
          <a:xfrm>
            <a:off x="5439199" y="2959737"/>
            <a:ext cx="3961268" cy="42649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演示</a:t>
            </a:r>
            <a:r>
              <a:rPr lang="zh-CN" altLang="en-US" sz="40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计划</a:t>
            </a:r>
            <a:endParaRPr lang="zh-CN" altLang="en-US" sz="40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360516" y="3679246"/>
            <a:ext cx="4118635" cy="0"/>
          </a:xfrm>
          <a:prstGeom prst="line">
            <a:avLst/>
          </a:prstGeom>
          <a:ln w="34925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现场演示沿五步路径验证网站的真实可用性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22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428750" y="2238375"/>
            <a:ext cx="9048750" cy="0"/>
          </a:xfrm>
          <a:prstGeom prst="line">
            <a:avLst/>
          </a:prstGeom>
          <a:noFill/>
          <a:ln w="28575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047750" y="1885950"/>
            <a:ext cx="704850" cy="704850"/>
          </a:xfrm>
          <a:prstGeom prst="ellipse">
            <a:avLst/>
          </a:prstGeom>
          <a:solidFill>
            <a:srgbClr val="1B316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47750" y="202882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1</a:t>
            </a:r>
            <a:endParaRPr sz="1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19125" y="2714625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首页与六大模块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3143250" y="1885950"/>
            <a:ext cx="704850" cy="704850"/>
          </a:xfrm>
          <a:prstGeom prst="ellipse">
            <a:avLst/>
          </a:prstGeom>
          <a:solidFill>
            <a:srgbClr val="1B316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143250" y="202882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2</a:t>
            </a:r>
            <a:endParaRPr sz="1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714625" y="2714625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进入代表性模块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5238750" y="1885950"/>
            <a:ext cx="704850" cy="704850"/>
          </a:xfrm>
          <a:prstGeom prst="ellipse">
            <a:avLst/>
          </a:prstGeom>
          <a:solidFill>
            <a:srgbClr val="C7202F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238750" y="202882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3</a:t>
            </a:r>
            <a:endParaRPr sz="1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810125" y="2714625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关键词搜索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7334250" y="1885950"/>
            <a:ext cx="704850" cy="704850"/>
          </a:xfrm>
          <a:prstGeom prst="ellipse">
            <a:avLst/>
          </a:prstGeom>
          <a:solidFill>
            <a:srgbClr val="1B316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334250" y="202882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4</a:t>
            </a:r>
            <a:endParaRPr sz="1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905625" y="2714625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打开内容详情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9429750" y="1885950"/>
            <a:ext cx="704850" cy="704850"/>
          </a:xfrm>
          <a:prstGeom prst="ellipse">
            <a:avLst/>
          </a:prstGeom>
          <a:solidFill>
            <a:srgbClr val="1B316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429750" y="2028825"/>
            <a:ext cx="704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5</a:t>
            </a:r>
            <a:endParaRPr sz="1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001125" y="2714625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展示手机端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3905250"/>
            <a:ext cx="2590800" cy="1619250"/>
          </a:xfrm>
          <a:prstGeom prst="roundRect">
            <a:avLst>
              <a:gd name="adj" fmla="val 7059"/>
            </a:avLst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785" y="3905250"/>
            <a:ext cx="2900680" cy="15963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475" y="3898265"/>
            <a:ext cx="2913380" cy="1603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1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6487527" y="693191"/>
            <a:ext cx="1864613" cy="53860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  <a:defRPr sz="14250" b="1">
                <a:solidFill>
                  <a:srgbClr val="FFFFFF">
                    <a:alpha val="12549"/>
                  </a:srgbClr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0" b="1">
                <a:solidFill>
                  <a:srgbClr val="FFFFFF">
                    <a:alpha val="12549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用</a:t>
            </a:r>
            <a:endParaRPr sz="14250" b="1">
              <a:solidFill>
                <a:srgbClr val="FFFFFF">
                  <a:alpha val="12549"/>
                </a:srgbClr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2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964" y="2176796"/>
            <a:ext cx="2989876" cy="3004900"/>
          </a:xfrm>
          <a:prstGeom prst="rect">
            <a:avLst/>
          </a:prstGeom>
        </p:spPr>
      </p:pic>
      <p:sp>
        <p:nvSpPr>
          <p:cNvPr id="22" name="文本框 21"/>
          <p:cNvSpPr>
            <a:spLocks noGrp="1"/>
          </p:cNvSpPr>
          <p:nvPr/>
        </p:nvSpPr>
        <p:spPr>
          <a:xfrm>
            <a:off x="5415694" y="3950899"/>
            <a:ext cx="4008278" cy="7315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20000"/>
              </a:lnSpc>
              <a:buNone/>
              <a:defRPr sz="1800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800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rPr>
              <a:t>从现场演示回到应用场景与安全治理</a:t>
            </a:r>
            <a:endParaRPr sz="1800">
              <a:solidFill>
                <a:srgbClr val="FFFFFF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23" name="标题 4"/>
          <p:cNvSpPr>
            <a:spLocks noGrp="1"/>
          </p:cNvSpPr>
          <p:nvPr/>
        </p:nvSpPr>
        <p:spPr>
          <a:xfrm>
            <a:off x="5439199" y="2959737"/>
            <a:ext cx="3961268" cy="426499"/>
          </a:xfrm>
          <a:prstGeom prst="rect">
            <a:avLst/>
          </a:prstGeom>
        </p:spPr>
        <p:txBody>
          <a:bodyPr vert="horz" lIns="68580" tIns="34290" rIns="68580" bIns="34290" anchor="ctr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31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网站“能用”之后，更重要的是持续用好、管好</a:t>
            </a:r>
            <a:endParaRPr sz="28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360516" y="3815136"/>
            <a:ext cx="4118635" cy="0"/>
          </a:xfrm>
          <a:prstGeom prst="line">
            <a:avLst/>
          </a:prstGeom>
          <a:ln w="34925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日常巡逻准备中，可以快速回看装备、勤务和常见警情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24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" y="1666875"/>
            <a:ext cx="1878330" cy="4064000"/>
          </a:xfrm>
          <a:prstGeom prst="roundRect">
            <a:avLst>
              <a:gd name="adj" fmla="val 6154"/>
            </a:avLst>
          </a:prstGeom>
        </p:spPr>
      </p:pic>
      <p:sp>
        <p:nvSpPr>
          <p:cNvPr id="50" name="矩形 49"/>
          <p:cNvSpPr>
            <a:spLocks noGrp="1"/>
          </p:cNvSpPr>
          <p:nvPr/>
        </p:nvSpPr>
        <p:spPr>
          <a:xfrm>
            <a:off x="6858000" y="1666875"/>
            <a:ext cx="447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根据任务需要进入相关模块</a:t>
            </a:r>
            <a:endParaRPr sz="2175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6858000" y="2962275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086600" y="285750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回顾装备和勤务操作提示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6858000" y="36290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86600" y="352425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提前熟悉常见警情要点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858000" y="2571750"/>
            <a:ext cx="55245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615" y="1682115"/>
            <a:ext cx="3277870" cy="18040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615" y="3934460"/>
            <a:ext cx="3266440" cy="179768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理论学习中，可以集中查阅法条规范和业务知识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25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1666875"/>
            <a:ext cx="5286375" cy="3304540"/>
          </a:xfrm>
          <a:prstGeom prst="roundRect">
            <a:avLst>
              <a:gd name="adj" fmla="val 2927"/>
            </a:avLst>
          </a:prstGeom>
        </p:spPr>
      </p:pic>
      <p:sp>
        <p:nvSpPr>
          <p:cNvPr id="48" name="矩形 47"/>
          <p:cNvSpPr>
            <a:spLocks noGrp="1"/>
          </p:cNvSpPr>
          <p:nvPr/>
        </p:nvSpPr>
        <p:spPr>
          <a:xfrm>
            <a:off x="904875" y="1666875"/>
            <a:ext cx="447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按专题查找法规规范</a:t>
            </a:r>
            <a:endParaRPr sz="2175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904875" y="2962275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33475" y="285750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结合公开来源核验阅读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904875" y="36290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133475" y="352425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以最新正式文件和制度规范为准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04875" y="2571750"/>
            <a:ext cx="55245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训练备课中，图像视频让动作要领和装备使用更直观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26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rcRect t="24000" b="24000"/>
          <a:stretch>
            <a:fillRect/>
          </a:stretch>
        </p:blipFill>
        <p:spPr>
          <a:xfrm>
            <a:off x="781050" y="1571625"/>
            <a:ext cx="4762500" cy="1857375"/>
          </a:xfrm>
          <a:prstGeom prst="roundRect">
            <a:avLst>
              <a:gd name="adj" fmla="val 6154"/>
            </a:avLst>
          </a:prstGeom>
        </p:spPr>
      </p:pic>
      <p:sp>
        <p:nvSpPr>
          <p:cNvPr id="47" name="圆角矩形 46"/>
          <p:cNvSpPr>
            <a:spLocks noGrp="1"/>
          </p:cNvSpPr>
          <p:nvPr/>
        </p:nvSpPr>
        <p:spPr>
          <a:xfrm>
            <a:off x="781050" y="1571625"/>
            <a:ext cx="4762500" cy="1857375"/>
          </a:xfrm>
          <a:prstGeom prst="roundRect">
            <a:avLst>
              <a:gd name="adj" fmla="val 4103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3"/>
          <a:srcRect t="24000" b="24000"/>
          <a:stretch>
            <a:fillRect/>
          </a:stretch>
        </p:blipFill>
        <p:spPr>
          <a:xfrm>
            <a:off x="781050" y="3619500"/>
            <a:ext cx="4762500" cy="1857375"/>
          </a:xfrm>
          <a:prstGeom prst="roundRect">
            <a:avLst>
              <a:gd name="adj" fmla="val 6154"/>
            </a:avLst>
          </a:prstGeom>
        </p:spPr>
      </p:pic>
      <p:sp>
        <p:nvSpPr>
          <p:cNvPr id="49" name="圆角矩形 48"/>
          <p:cNvSpPr>
            <a:spLocks noGrp="1"/>
          </p:cNvSpPr>
          <p:nvPr/>
        </p:nvSpPr>
        <p:spPr>
          <a:xfrm>
            <a:off x="781050" y="3619500"/>
            <a:ext cx="4762500" cy="1857375"/>
          </a:xfrm>
          <a:prstGeom prst="roundRect">
            <a:avLst>
              <a:gd name="adj" fmla="val 4103"/>
            </a:avLst>
          </a:prstGeom>
          <a:noFill/>
          <a:ln w="9525">
            <a:solidFill>
              <a:srgbClr val="D8DEE7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858000" y="1666875"/>
            <a:ext cx="447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快速查找训练材料</a:t>
            </a:r>
            <a:endParaRPr sz="2175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6858000" y="2962275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086600" y="285750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结合动作分解图组织教学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6858000" y="36290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86600" y="352425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为岗位练兵提供参考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858000" y="2571750"/>
            <a:ext cx="55245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复盘讨论和走访送教推动个人经验转化为集体资源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27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975" y="1666875"/>
            <a:ext cx="5445125" cy="3403600"/>
          </a:xfrm>
          <a:prstGeom prst="roundRect">
            <a:avLst>
              <a:gd name="adj" fmla="val 2927"/>
            </a:avLst>
          </a:prstGeom>
        </p:spPr>
      </p:pic>
      <p:sp>
        <p:nvSpPr>
          <p:cNvPr id="48" name="矩形 47"/>
          <p:cNvSpPr>
            <a:spLocks noGrp="1"/>
          </p:cNvSpPr>
          <p:nvPr/>
        </p:nvSpPr>
        <p:spPr>
          <a:xfrm>
            <a:off x="904875" y="1666875"/>
            <a:ext cx="447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75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围绕警情回看相关提示</a:t>
            </a:r>
            <a:endParaRPr sz="2175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904875" y="2962275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33475" y="285750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沉淀成熟做法和教学材料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904875" y="3629025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133475" y="352425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在讨论与送教中持续完善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04875" y="2571750"/>
            <a:ext cx="55245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7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网站始终是内部学习参考，不替代正式依据和现场履职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28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096000" y="1619250"/>
            <a:ext cx="476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2250" b="1">
                <a:solidFill>
                  <a:srgbClr val="C7202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250" b="1">
                <a:solidFill>
                  <a:srgbClr val="C7202F"/>
                </a:solidFill>
                <a:latin typeface="思源黑体 CN Heavy"/>
                <a:ea typeface="思源黑体 CN Heavy"/>
                <a:cs typeface="思源黑体 CN Heavy"/>
              </a:rPr>
              <a:t>内部学习参考</a:t>
            </a:r>
            <a:endParaRPr sz="2250" b="1">
              <a:solidFill>
                <a:srgbClr val="C7202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6096000" y="2533650"/>
            <a:ext cx="95250" cy="95250"/>
          </a:xfrm>
          <a:prstGeom prst="ellipse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324600" y="2428875"/>
            <a:ext cx="4533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当前仅限大队内部试用</a:t>
            </a:r>
            <a:endParaRPr sz="1575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6096000" y="3219450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324600" y="3114675"/>
            <a:ext cx="4533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法律法规、上级规范和本单位制度优先</a:t>
            </a:r>
            <a:endParaRPr sz="1575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6096000" y="3905250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324600" y="3800475"/>
            <a:ext cx="4533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不替代现场指挥和依法履职要求</a:t>
            </a:r>
            <a:endParaRPr sz="1575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>
            <a:off x="6096000" y="4591050"/>
            <a:ext cx="95250" cy="95250"/>
          </a:xfrm>
          <a:prstGeom prst="ellipse">
            <a:avLst/>
          </a:prstGeom>
          <a:solidFill>
            <a:srgbClr val="1B3168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324600" y="4486275"/>
            <a:ext cx="4533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75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未经审查不扩大展示范围</a:t>
            </a:r>
            <a:endParaRPr sz="1575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061845"/>
            <a:ext cx="4967605" cy="27343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来源核验、敏感排查、审查把关和整改复核共同守住边界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29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933575" y="2857500"/>
            <a:ext cx="822960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6097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6097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公开来源核验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36671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6671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0384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敏感内容排查与调整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57245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7245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0958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业务、保密、发布审查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77819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7819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1532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整改复核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0" name="椭圆 59"/>
          <p:cNvSpPr>
            <a:spLocks noGrp="1"/>
          </p:cNvSpPr>
          <p:nvPr/>
        </p:nvSpPr>
        <p:spPr>
          <a:xfrm>
            <a:off x="9839325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98393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05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92106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公开来源核验不等同于内部审批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910" y="3566160"/>
            <a:ext cx="3472815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7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内容、机制和评估仍是下一阶段必须补齐的短板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30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00125" y="1666875"/>
            <a:ext cx="2762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36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6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36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1619250" y="2571750"/>
            <a:ext cx="1524000" cy="0"/>
          </a:xfrm>
          <a:prstGeom prst="line">
            <a:avLst/>
          </a:prstGeom>
          <a:noFill/>
          <a:ln w="19050">
            <a:solidFill>
              <a:srgbClr val="D8DEE7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00125" y="285750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7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7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内容覆盖和深度不均衡</a:t>
            </a:r>
            <a:endParaRPr sz="17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524375" y="1666875"/>
            <a:ext cx="2762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3600" b="1">
                <a:solidFill>
                  <a:srgbClr val="C7202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600" b="1">
                <a:solidFill>
                  <a:srgbClr val="C7202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3600" b="1">
              <a:solidFill>
                <a:srgbClr val="C7202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5143500" y="2571750"/>
            <a:ext cx="1524000" cy="0"/>
          </a:xfrm>
          <a:prstGeom prst="line">
            <a:avLst/>
          </a:prstGeom>
          <a:noFill/>
          <a:ln w="19050">
            <a:solidFill>
              <a:srgbClr val="D8DEE7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524375" y="285750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7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7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职责分工和定期复核尚未制度化</a:t>
            </a:r>
            <a:endParaRPr sz="17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048625" y="1666875"/>
            <a:ext cx="2762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36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6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36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8667750" y="2571750"/>
            <a:ext cx="1524000" cy="0"/>
          </a:xfrm>
          <a:prstGeom prst="line">
            <a:avLst/>
          </a:prstGeom>
          <a:noFill/>
          <a:ln w="19050">
            <a:solidFill>
              <a:srgbClr val="D8DEE7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048625" y="285750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7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7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应用效果缺少连续量化评估</a:t>
            </a:r>
            <a:endParaRPr sz="17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优先补充高频需求领域，持续丰富业务内容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31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470" y="1590834"/>
            <a:ext cx="4762500" cy="2976563"/>
          </a:xfrm>
          <a:prstGeom prst="roundRect">
            <a:avLst>
              <a:gd name="adj" fmla="val 2927"/>
            </a:avLst>
          </a:prstGeom>
        </p:spPr>
      </p:pic>
      <p:sp>
        <p:nvSpPr>
          <p:cNvPr id="50" name="矩形 49"/>
          <p:cNvSpPr>
            <a:spLocks noGrp="1"/>
          </p:cNvSpPr>
          <p:nvPr/>
        </p:nvSpPr>
        <p:spPr>
          <a:xfrm>
            <a:off x="1616710" y="1776095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新型装备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616710" y="2404745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常见警情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616710" y="3114675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勤务组织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616710" y="3743325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教育训练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616710" y="4409440"/>
            <a:ext cx="4248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0" anchor="t">
            <a:normAutofit/>
          </a:bodyPr>
          <a:lstStyle/>
          <a:p>
            <a:pPr algn="l">
              <a:def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650">
                <a:solidFill>
                  <a:srgbClr val="232A34"/>
                </a:solidFill>
                <a:latin typeface="思源黑体 CN Medium"/>
                <a:ea typeface="思源黑体 CN Medium"/>
                <a:cs typeface="思源黑体 CN Medium"/>
              </a:rPr>
              <a:t>同步查漏补缺</a:t>
            </a:r>
            <a:endParaRPr sz="1650">
              <a:solidFill>
                <a:srgbClr val="232A34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23035" y="1510030"/>
            <a:ext cx="552450" cy="3152775"/>
            <a:chOff x="1425" y="4050"/>
            <a:chExt cx="870" cy="4965"/>
          </a:xfrm>
        </p:grpSpPr>
        <p:sp>
          <p:nvSpPr>
            <p:cNvPr id="49" name="椭圆 48"/>
            <p:cNvSpPr>
              <a:spLocks noGrp="1"/>
            </p:cNvSpPr>
            <p:nvPr/>
          </p:nvSpPr>
          <p:spPr>
            <a:xfrm>
              <a:off x="1425" y="4665"/>
              <a:ext cx="150" cy="150"/>
            </a:xfrm>
            <a:prstGeom prst="ellipse">
              <a:avLst/>
            </a:prstGeom>
            <a:solidFill>
              <a:srgbClr val="C7202F"/>
            </a:solidFill>
            <a:ln w="0">
              <a:noFill/>
              <a:prstDash val="solid"/>
            </a:ln>
          </p:spPr>
        </p:sp>
        <p:sp>
          <p:nvSpPr>
            <p:cNvPr id="51" name="椭圆 50"/>
            <p:cNvSpPr>
              <a:spLocks noGrp="1"/>
            </p:cNvSpPr>
            <p:nvPr/>
          </p:nvSpPr>
          <p:spPr>
            <a:xfrm>
              <a:off x="1425" y="5715"/>
              <a:ext cx="150" cy="150"/>
            </a:xfrm>
            <a:prstGeom prst="ellipse">
              <a:avLst/>
            </a:prstGeom>
            <a:solidFill>
              <a:srgbClr val="1B3168"/>
            </a:solidFill>
            <a:ln w="0">
              <a:noFill/>
              <a:prstDash val="solid"/>
            </a:ln>
          </p:spPr>
        </p:sp>
        <p:sp>
          <p:nvSpPr>
            <p:cNvPr id="53" name="椭圆 52"/>
            <p:cNvSpPr>
              <a:spLocks noGrp="1"/>
            </p:cNvSpPr>
            <p:nvPr/>
          </p:nvSpPr>
          <p:spPr>
            <a:xfrm>
              <a:off x="1425" y="6765"/>
              <a:ext cx="150" cy="150"/>
            </a:xfrm>
            <a:prstGeom prst="ellipse">
              <a:avLst/>
            </a:prstGeom>
            <a:solidFill>
              <a:srgbClr val="1B3168"/>
            </a:solidFill>
            <a:ln w="0">
              <a:noFill/>
              <a:prstDash val="solid"/>
            </a:ln>
          </p:spPr>
        </p:sp>
        <p:sp>
          <p:nvSpPr>
            <p:cNvPr id="55" name="椭圆 54"/>
            <p:cNvSpPr>
              <a:spLocks noGrp="1"/>
            </p:cNvSpPr>
            <p:nvPr/>
          </p:nvSpPr>
          <p:spPr>
            <a:xfrm>
              <a:off x="1425" y="7815"/>
              <a:ext cx="150" cy="150"/>
            </a:xfrm>
            <a:prstGeom prst="ellipse">
              <a:avLst/>
            </a:prstGeom>
            <a:solidFill>
              <a:srgbClr val="1B3168"/>
            </a:solidFill>
            <a:ln w="0">
              <a:noFill/>
              <a:prstDash val="solid"/>
            </a:ln>
          </p:spPr>
        </p:sp>
        <p:sp>
          <p:nvSpPr>
            <p:cNvPr id="57" name="椭圆 56"/>
            <p:cNvSpPr>
              <a:spLocks noGrp="1"/>
            </p:cNvSpPr>
            <p:nvPr/>
          </p:nvSpPr>
          <p:spPr>
            <a:xfrm>
              <a:off x="1425" y="8865"/>
              <a:ext cx="150" cy="150"/>
            </a:xfrm>
            <a:prstGeom prst="ellipse">
              <a:avLst/>
            </a:prstGeom>
            <a:solidFill>
              <a:srgbClr val="1B3168"/>
            </a:solidFill>
            <a:ln w="0">
              <a:noFill/>
              <a:prstDash val="solid"/>
            </a:ln>
          </p:spPr>
        </p:sp>
        <p:sp>
          <p:nvSpPr>
            <p:cNvPr id="59" name="矩形 58"/>
            <p:cNvSpPr>
              <a:spLocks noGrp="1"/>
            </p:cNvSpPr>
            <p:nvPr/>
          </p:nvSpPr>
          <p:spPr>
            <a:xfrm>
              <a:off x="1425" y="4050"/>
              <a:ext cx="870" cy="60"/>
            </a:xfrm>
            <a:prstGeom prst="rect">
              <a:avLst/>
            </a:prstGeom>
            <a:solidFill>
              <a:srgbClr val="C7202F"/>
            </a:solidFill>
            <a:ln w="0">
              <a:noFill/>
              <a:prstDash val="solid"/>
            </a:ln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建立月度更新机制，让内容始终有人管、按期核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32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933575" y="2857500"/>
            <a:ext cx="822960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6097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6097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资料收集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36671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6671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0384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内容整理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57245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7245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0958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业务复核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77819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7819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1532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发布维护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9839325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8393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05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2106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修订、替换或停止展示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915" y="3770630"/>
            <a:ext cx="3938270" cy="2214880"/>
          </a:xfrm>
          <a:prstGeom prst="roundRect">
            <a:avLst>
              <a:gd name="adj" fmla="val 10435"/>
            </a:avLst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推进“每月一学”，让网站建设与岗位练兵相互促进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33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933575" y="2857500"/>
            <a:ext cx="822960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6097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6097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01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810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网站预习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36671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6671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02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0384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集中学习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57245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7245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03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50958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实操训练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7781925" y="2533650"/>
            <a:ext cx="647700" cy="647700"/>
          </a:xfrm>
          <a:prstGeom prst="ellipse">
            <a:avLst/>
          </a:prstGeom>
          <a:solidFill>
            <a:srgbClr val="1B316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7819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04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1532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复盘讨论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9839325" y="2533650"/>
            <a:ext cx="647700" cy="647700"/>
          </a:xfrm>
          <a:prstGeom prst="ellipse">
            <a:avLst/>
          </a:prstGeom>
          <a:solidFill>
            <a:srgbClr val="C720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839325" y="2647950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65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05</a:t>
            </a:r>
            <a:endParaRPr sz="165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210675" y="171450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b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每月围绕一个主题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65" y="3703955"/>
            <a:ext cx="8574405" cy="220154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把审核脱密要求嵌入新增、修改和推广全过程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34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1524000" y="2857500"/>
            <a:ext cx="8858250" cy="0"/>
          </a:xfrm>
          <a:prstGeom prst="line">
            <a:avLst/>
          </a:prstGeom>
          <a:noFill/>
          <a:ln w="38100">
            <a:solidFill>
              <a:srgbClr val="D8DEE7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1095375" y="2476500"/>
            <a:ext cx="762000" cy="762000"/>
          </a:xfrm>
          <a:prstGeom prst="ellipse">
            <a:avLst/>
          </a:prstGeom>
          <a:solidFill>
            <a:srgbClr val="1B316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95375" y="262890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✓</a:t>
            </a:r>
            <a:endParaRPr sz="21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66750" y="3476625"/>
            <a:ext cx="1619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完善内容分级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3190875" y="2476500"/>
            <a:ext cx="762000" cy="762000"/>
          </a:xfrm>
          <a:prstGeom prst="ellipse">
            <a:avLst/>
          </a:prstGeom>
          <a:solidFill>
            <a:srgbClr val="1B316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190875" y="262890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✓</a:t>
            </a:r>
            <a:endParaRPr sz="21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762250" y="3476625"/>
            <a:ext cx="1619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保留来源记录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3" name="椭圆 52"/>
          <p:cNvSpPr>
            <a:spLocks noGrp="1"/>
          </p:cNvSpPr>
          <p:nvPr/>
        </p:nvSpPr>
        <p:spPr>
          <a:xfrm>
            <a:off x="5286375" y="2476500"/>
            <a:ext cx="762000" cy="762000"/>
          </a:xfrm>
          <a:prstGeom prst="ellipse">
            <a:avLst/>
          </a:prstGeom>
          <a:solidFill>
            <a:srgbClr val="1B316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5286375" y="262890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✓</a:t>
            </a:r>
            <a:endParaRPr sz="21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857750" y="3476625"/>
            <a:ext cx="1619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识别敏感信息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7381875" y="2476500"/>
            <a:ext cx="762000" cy="762000"/>
          </a:xfrm>
          <a:prstGeom prst="ellipse">
            <a:avLst/>
          </a:prstGeom>
          <a:solidFill>
            <a:srgbClr val="1B316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381875" y="262890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✓</a:t>
            </a:r>
            <a:endParaRPr sz="21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953250" y="3476625"/>
            <a:ext cx="1619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新增修改设置审核要求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9477375" y="2476500"/>
            <a:ext cx="762000" cy="762000"/>
          </a:xfrm>
          <a:prstGeom prst="ellipse">
            <a:avLst/>
          </a:prstGeom>
          <a:solidFill>
            <a:srgbClr val="C7202F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9477375" y="2628900"/>
            <a:ext cx="76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✓</a:t>
            </a:r>
            <a:endParaRPr sz="21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048750" y="3476625"/>
            <a:ext cx="1619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425" b="1">
                <a:solidFill>
                  <a:srgbClr val="232A34"/>
                </a:solidFill>
                <a:latin typeface="思源黑体 CN Heavy"/>
                <a:ea typeface="思源黑体 CN Heavy"/>
                <a:cs typeface="思源黑体 CN Heavy"/>
              </a:rPr>
              <a:t>未经批准不扩大展示</a:t>
            </a:r>
            <a:endParaRPr sz="1425" b="1">
              <a:solidFill>
                <a:srgbClr val="232A34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10" y="4131310"/>
            <a:ext cx="3662680" cy="2289175"/>
          </a:xfrm>
          <a:prstGeom prst="roundRect">
            <a:avLst>
              <a:gd name="adj" fmla="val 12000"/>
            </a:avLst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40" y="258028"/>
            <a:ext cx="866981" cy="871338"/>
          </a:xfrm>
          <a:prstGeom prst="rect">
            <a:avLst/>
          </a:prstGeom>
        </p:spPr>
      </p:pic>
      <p:sp>
        <p:nvSpPr>
          <p:cNvPr id="41" name="标题 4"/>
          <p:cNvSpPr>
            <a:spLocks noGrp="1"/>
          </p:cNvSpPr>
          <p:nvPr/>
        </p:nvSpPr>
        <p:spPr>
          <a:xfrm>
            <a:off x="1066800" y="323850"/>
            <a:ext cx="10096500" cy="704850"/>
          </a:xfrm>
          <a:prstGeom prst="rect">
            <a:avLst/>
          </a:prstGeom>
        </p:spPr>
        <p:txBody>
          <a:bodyPr vert="horz" wrap="none" lIns="0" tIns="19050" rIns="0" bIns="19050" anchor="ctr">
            <a:norm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l">
              <a:buNone/>
              <a:def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000" b="1">
                <a:solidFill>
                  <a:srgbClr val="1B3168"/>
                </a:solidFill>
                <a:latin typeface="思源黑体 CN Heavy"/>
                <a:ea typeface="思源黑体 CN Heavy"/>
                <a:cs typeface="思源黑体 CN Heavy"/>
              </a:rPr>
              <a:t>持续优化移动端，让常用信息更醒目、操作路径更简洁</a:t>
            </a:r>
            <a:endParaRPr sz="3000" b="1">
              <a:solidFill>
                <a:srgbClr val="1B3168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44" name="red-accent"/>
          <p:cNvSpPr>
            <a:spLocks noGrp="1"/>
          </p:cNvSpPr>
          <p:nvPr/>
        </p:nvSpPr>
        <p:spPr>
          <a:xfrm>
            <a:off x="1066800" y="1190625"/>
            <a:ext cx="723900" cy="38100"/>
          </a:xfrm>
          <a:prstGeom prst="rect">
            <a:avLst/>
          </a:prstGeom>
          <a:solidFill>
            <a:srgbClr val="C7202F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82250" y="59055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050">
                <a:solidFill>
                  <a:srgbClr val="AAB5C3"/>
                </a:solidFill>
                <a:latin typeface="思源黑体 CN Medium"/>
                <a:ea typeface="思源黑体 CN Medium"/>
                <a:cs typeface="思源黑体 CN Medium"/>
              </a:rPr>
              <a:t>35 / 36</a:t>
            </a:r>
            <a:endParaRPr sz="1050">
              <a:solidFill>
                <a:srgbClr val="AAB5C3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71625"/>
            <a:ext cx="6096000" cy="3810000"/>
          </a:xfrm>
          <a:prstGeom prst="roundRect">
            <a:avLst>
              <a:gd name="adj" fmla="val 3000"/>
            </a:avLst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40" y="1571625"/>
            <a:ext cx="1760545" cy="3810000"/>
          </a:xfrm>
          <a:prstGeom prst="roundRect">
            <a:avLst>
              <a:gd name="adj" fmla="val 5581"/>
            </a:avLst>
          </a:prstGeom>
        </p:spPr>
      </p:pic>
      <p:sp>
        <p:nvSpPr>
          <p:cNvPr id="50" name="圆角矩形 49"/>
          <p:cNvSpPr>
            <a:spLocks noGrp="1"/>
          </p:cNvSpPr>
          <p:nvPr/>
        </p:nvSpPr>
        <p:spPr>
          <a:xfrm>
            <a:off x="971550" y="1238885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1B3168"/>
          </a:solidFill>
          <a:ln w="9525">
            <a:solidFill>
              <a:srgbClr val="1B3168"/>
            </a:solidFill>
            <a:prstDash val="solid"/>
          </a:ln>
        </p:spPr>
        <p:txBody>
          <a:bodyPr wrap="square" lIns="57150" tIns="38100" rIns="57150" bIns="38100" anchor="ctr">
            <a:normAutofit fontScale="84871"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电脑端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8524875" y="1228725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C7202F"/>
          </a:solidFill>
          <a:ln w="9525">
            <a:solidFill>
              <a:srgbClr val="C7202F"/>
            </a:solidFill>
            <a:prstDash val="solid"/>
          </a:ln>
        </p:spPr>
        <p:txBody>
          <a:bodyPr wrap="square" lIns="57150" tIns="38100" rIns="57150" bIns="38100" anchor="ctr">
            <a:normAutofit fontScale="84871"/>
          </a:bodyPr>
          <a:lstStyle/>
          <a:p>
            <a:pPr algn="ctr">
              <a:def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275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手机端</a:t>
            </a:r>
            <a:endParaRPr sz="1275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143000" y="5476875"/>
            <a:ext cx="952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350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350">
                <a:solidFill>
                  <a:srgbClr val="5F6B7A"/>
                </a:solidFill>
                <a:latin typeface="思源黑体 CN Medium"/>
                <a:ea typeface="思源黑体 CN Medium"/>
                <a:cs typeface="思源黑体 CN Medium"/>
              </a:rPr>
              <a:t>优化字号和图片　｜　优化视频与目录　｜　优化搜索体验　｜　保留电脑端完整阅读</a:t>
            </a:r>
            <a:endParaRPr sz="1350">
              <a:solidFill>
                <a:srgbClr val="5F6B7A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16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88215"/>
            <a:ext cx="12192000" cy="1269785"/>
          </a:xfrm>
          <a:prstGeom prst="rect">
            <a:avLst/>
          </a:prstGeom>
        </p:spPr>
      </p:pic>
      <p:pic>
        <p:nvPicPr>
          <p:cNvPr id="3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61" y="1909407"/>
            <a:ext cx="2989876" cy="3004900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3524250" y="1828800"/>
            <a:ext cx="7810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6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服务基层实战</a:t>
            </a:r>
            <a:endParaRPr sz="36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  <a:p>
            <a:pPr algn="l">
              <a:defRPr sz="36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6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推动知识共建</a:t>
            </a:r>
            <a:endParaRPr sz="36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  <a:p>
            <a:pPr algn="l">
              <a:defRPr sz="36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3600" b="1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确保规范安全</a:t>
            </a:r>
            <a:endParaRPr sz="3600" b="1">
              <a:solidFill>
                <a:srgbClr val="FFFFFF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71875" y="37147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800">
                <a:solidFill>
                  <a:srgbClr val="F08A92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800">
                <a:solidFill>
                  <a:srgbClr val="F08A92"/>
                </a:solidFill>
                <a:latin typeface="思源黑体 CN Medium"/>
                <a:ea typeface="思源黑体 CN Medium"/>
                <a:cs typeface="思源黑体 CN Medium"/>
              </a:rPr>
              <a:t>成熟一项、评估一项、稳妥推进</a:t>
            </a:r>
            <a:endParaRPr sz="1800">
              <a:solidFill>
                <a:srgbClr val="F08A92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571875" y="4143375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350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350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rPr>
              <a:t>持续服务基层巡防实战和民警辅警日常学习</a:t>
            </a:r>
            <a:endParaRPr sz="1350">
              <a:solidFill>
                <a:srgbClr val="FFFFFF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619500" y="489966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defRPr sz="1500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defRPr>
            </a:pPr>
            <a:r>
              <a:rPr sz="1500">
                <a:solidFill>
                  <a:srgbClr val="FFFFFF"/>
                </a:solidFill>
                <a:latin typeface="思源黑体 CN Medium"/>
                <a:ea typeface="思源黑体 CN Medium"/>
                <a:cs typeface="思源黑体 CN Medium"/>
              </a:rPr>
              <a:t>汇报人：王汝凡　　2026年7月</a:t>
            </a:r>
            <a:endParaRPr sz="1500">
              <a:solidFill>
                <a:srgbClr val="FFFFFF"/>
              </a:solidFill>
              <a:latin typeface="思源黑体 CN Medium"/>
              <a:ea typeface="思源黑体 CN Medium"/>
              <a:cs typeface="思源黑体 CN Medium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4"/>
</p:tagLst>
</file>

<file path=ppt/tags/tag2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5"/>
</p:tagLst>
</file>

<file path=ppt/tags/tag3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3"/>
</p:tagLst>
</file>

<file path=ppt/tags/tag4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6"/>
</p:tagLst>
</file>

<file path=ppt/tags/tag5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2"/>
</p:tagLst>
</file>

<file path=ppt/tags/tag6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7"/>
</p:tagLst>
</file>

<file path=ppt/tags/tag7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1"/>
</p:tagLst>
</file>

<file path=ppt/tags/tag8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8"/>
</p:tagLst>
</file>

<file path=ppt/tags/tag9.xml><?xml version="1.0" encoding="utf-8"?>
<p:tagLst xmlns:p="http://schemas.openxmlformats.org/presentationml/2006/main">
  <p:tag name="POCKET_APPLY_TIME" val="2020年8月12日"/>
  <p:tag name="POCKET_APPLY_TYPE" val="Slide"/>
  <p:tag name="APPLYTYPE" val="Other"/>
  <p:tag name="APPLYORDER" val="9"/>
</p:tagLst>
</file>

<file path=ppt/tags/tag10.xml><?xml version="1.0" encoding="utf-8"?>
<p:tagLst xmlns:p="http://schemas.openxmlformats.org/presentationml/2006/main">
  <p:tag name="MH_TYPE" val="#NeiR#"/>
  <p:tag name="MH_NUMBER" val="4"/>
  <p:tag name="MH_CATEGORY" val="#BingLLB#"/>
  <p:tag name="MH_LAYOUT" val="SubTitle"/>
  <p:tag name="RESOURCELIBID_SLIDE" val="307297"/>
  <p:tag name="RESOURCELIB_SLIDETYPE" val="12"/>
  <p:tag name="POCKET_APPLY_TIME" val="2020年8月12日"/>
  <p:tag name="POCKET_APPLY_TYPE" val="Slide"/>
</p:tagLst>
</file>

<file path=ppt/tags/tag11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12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13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14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15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16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17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18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19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20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21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22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23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24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25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26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ags/tag27.xml><?xml version="1.0" encoding="utf-8"?>
<p:tagLst xmlns:p="http://schemas.openxmlformats.org/presentationml/2006/main">
  <p:tag name="KSO_WM_DIAGRAM_VIRTUALLY_FRAME" val="{&quot;height&quot;:131.25,&quot;left&quot;:56.25,&quot;top&quot;:183.75,&quot;width&quot;:795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1B3168"/>
      </a:dk2>
      <a:lt2>
        <a:srgbClr val="E7E6E6"/>
      </a:lt2>
      <a:accent1>
        <a:srgbClr val="1B3168"/>
      </a:accent1>
      <a:accent2>
        <a:srgbClr val="1B3168"/>
      </a:accent2>
      <a:accent3>
        <a:srgbClr val="1B3168"/>
      </a:accent3>
      <a:accent4>
        <a:srgbClr val="1B3168"/>
      </a:accent4>
      <a:accent5>
        <a:srgbClr val="1E346A"/>
      </a:accent5>
      <a:accent6>
        <a:srgbClr val="1B3168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1B3168"/>
      </a:dk2>
      <a:lt2>
        <a:srgbClr val="E7E6E6"/>
      </a:lt2>
      <a:accent1>
        <a:srgbClr val="1B3168"/>
      </a:accent1>
      <a:accent2>
        <a:srgbClr val="1B3168"/>
      </a:accent2>
      <a:accent3>
        <a:srgbClr val="1B3168"/>
      </a:accent3>
      <a:accent4>
        <a:srgbClr val="1B3168"/>
      </a:accent4>
      <a:accent5>
        <a:srgbClr val="1E346A"/>
      </a:accent5>
      <a:accent6>
        <a:srgbClr val="1B3168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2520</Words>
  <Application>WPS 演示</Application>
  <PresentationFormat>Converted Presentation</PresentationFormat>
  <Paragraphs>609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64" baseType="lpstr">
      <vt:lpstr>Arial</vt:lpstr>
      <vt:lpstr>宋体</vt:lpstr>
      <vt:lpstr>Wingdings</vt:lpstr>
      <vt:lpstr>Arial</vt:lpstr>
      <vt:lpstr>Microsoft YaHei</vt:lpstr>
      <vt:lpstr>思源黑体 CN Medium</vt:lpstr>
      <vt:lpstr>SimHei</vt:lpstr>
      <vt:lpstr>思源黑体 CN Heavy</vt:lpstr>
      <vt:lpstr>思源黑体 CN Heavy</vt:lpstr>
      <vt:lpstr>Arial Narrow</vt:lpstr>
      <vt:lpstr>Calibri</vt:lpstr>
      <vt:lpstr>Impact</vt:lpstr>
      <vt:lpstr>思源黑体 CN Medium</vt:lpstr>
      <vt:lpstr>KSOFBBA846A0</vt:lpstr>
      <vt:lpstr>FFont-Family</vt:lpstr>
      <vt:lpstr>Arial Unicode MS</vt:lpstr>
      <vt:lpstr>KSOF23E81A62</vt:lpstr>
      <vt:lpstr>KSOF8BC94741</vt:lpstr>
      <vt:lpstr>MS PGothic</vt:lpstr>
      <vt:lpstr>思源黑体 CN Heavy</vt:lpstr>
      <vt:lpstr>思源黑体 CN Medium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frank就是我呀</cp:lastModifiedBy>
  <cp:revision>41</cp:revision>
  <dcterms:created xsi:type="dcterms:W3CDTF">2026-07-22T03:23:00Z</dcterms:created>
  <dcterms:modified xsi:type="dcterms:W3CDTF">2026-07-23T03:22:15Z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9ADEBE2DE295416EB6150F7BFFB9EDE8_12</vt:lpwstr>
  </property>
  <property fmtid="{D5CDD505-2E9C-101B-9397-08002B2CF9AE}" pid="3" name="KSOProductBuildVer">
    <vt:lpwstr>2052-12.1.0.26391</vt:lpwstr>
  </property>
</Properties>
</file>